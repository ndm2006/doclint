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Nguyễn Đức Mười</a:t>
            </a:r>
          </a:p>
          <a:p>
            <a:r>
              <a:t>THỜI LƯỢNG: 25 giây | Mốc 00:00–00:25</a:t>
            </a:r>
          </a:p>
          <a:p/>
          <a:p>
            <a:r>
              <a:t>LỜI NÓI GỢI Ý</a:t>
            </a:r>
          </a:p>
          <a:p>
            <a:r>
              <a:t>Kính chào thầy và các bạn. Nhóm chúng em giới thiệu DocLint, hệ thống hỗ trợ chuẩn hóa hình thức báo cáo Word. Câu hỏi nhóm muốn giải quyết là: sau khi đã viết xong nội dung, làm sao người dùng bớt mất thời gian chỉnh bố cục mà vẫn yên tâm tài liệu của mình được giữ đúng? Trong mười phút, chúng em sẽ trình bày vấn đề, cách giải quyết và mục tiêu hoàn thiện phiên bản đầu.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Nguyễn Đức Mười</a:t>
            </a:r>
          </a:p>
          <a:p>
            <a:r>
              <a:t>THỜI LƯỢNG: 40 giây | Mốc 00:25–01:05</a:t>
            </a:r>
          </a:p>
          <a:p/>
          <a:p>
            <a:r>
              <a:t>LỜI NÓI GỢI Ý</a:t>
            </a:r>
          </a:p>
          <a:p>
            <a:r>
              <a:t>Một báo cáo thường được ghép từ nhiều lần chỉnh sửa và nhiều nguồn sao chép. Người dùng có thể gặp ba thói quen quen thuộc: copy khiến phông chữ lẫn lộn; dùng dấu cách hoặc Enter để đẩy nội dung; và chỉ bôi đậm thay vì tạo đề mục thật. Các thao tác này nhìn có vẻ ổn ở một thời điểm, nhưng khi đổi lề hoặc thêm nội dung, phần sau lại xê dịch. Vấn đề vì thế không chỉ là tài liệu chưa đẹp. Người dùng phải chỉnh lặp lại, khó biết tác động và lo sửa một chỗ sẽ làm hỏng chỗ khác.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Nguyễn Đức Mười</a:t>
            </a:r>
          </a:p>
          <a:p>
            <a:r>
              <a:t>THỜI LƯỢNG: 55 giây | Mốc 01:05–02:00</a:t>
            </a:r>
          </a:p>
          <a:p/>
          <a:p>
            <a:r>
              <a:t>LỜI NÓI GỢI Ý</a:t>
            </a:r>
          </a:p>
          <a:p>
            <a:r>
              <a:t>Khảo sát ban đầu của nhóm có 15 phản hồi hợp lệ theo phần thuyết minh của slide tuần 4. Trong đó 60 phần trăm, tương ứng 9 người, mất từ ba mươi phút đến một giờ để chỉnh hình thức; 20 phần trăm, tức 3 người, mất trên một giờ. Cộng hai nhóm này, có 12 trên 15 người, tương đương 80 phần trăm, dành ít nhất ba mươi phút cho việc định dạng. Đây là bằng chứng về nhu cầu, chưa phải số phút mà DocLint đã tiết kiệm được. Mẫu khảo sát nhỏ nên nhóm dùng để chọn vấn đề ưu tiên, không kết luận rằng tỷ lệ này đại diện cho toàn bộ sinh viên.</a:t>
            </a:r>
          </a:p>
          <a:p/>
          <a:p>
            <a:r>
              <a:t>NGUỒN / PHẠM VI: Nguồn: phần thuyết minh slide tuần 4, slide 4 và 6; n = 15. 80% = 60% + 20%. Khảo sát thăm dò.</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Nguyễn Đức Mười</a:t>
            </a:r>
          </a:p>
          <a:p>
            <a:r>
              <a:t>THỜI LƯỢNG: 55 giây | Mốc 02:00–02:55</a:t>
            </a:r>
          </a:p>
          <a:p/>
          <a:p>
            <a:r>
              <a:t>LỜI NÓI GỢI Ý</a:t>
            </a:r>
          </a:p>
          <a:p>
            <a:r>
              <a:t>Những khó khăn không xuất hiện ngẫu nhiên. Theo cùng phần thuyết minh, có 40 phần trăm phản hồi gặp vấn đề về lề đóng gáy; 40 phần trăm gặp phông chữ lộn xộn; và 40 phần trăm gặp vấn đề mục lục do tạo đề mục thủ công. Với bố cục hai cột, 20 phần trăm cho biết bảng hoặc hình dễ vỡ khung. Các nhóm có thể trùng người, nên không cộng các tỷ lệ này thành một tổng. Từ đây nhóm ưu tiên ba việc: sửa những thuộc tính rõ ràng, phục hồi cấu trúc khi đủ căn cứ, và bảo vệ các vùng dễ hỏng. Hỗ trợ hai cột đầy đủ vẫn không phải cam kết của phiên bản đầu.</a:t>
            </a:r>
          </a:p>
          <a:p/>
          <a:p>
            <a:r>
              <a:t>NGUỒN / PHẠM VI: Nguồn: phần thuyết minh slide tuần 4, slide 5–6; n = 15. Các nhóm lỗi có thể trùng nhau; không cộng tỷ lệ.</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Nguyễn Đức Mười</a:t>
            </a:r>
          </a:p>
          <a:p>
            <a:r>
              <a:t>THỜI LƯỢNG: 40 giây | Mốc 02:55–03:35</a:t>
            </a:r>
          </a:p>
          <a:p/>
          <a:p>
            <a:r>
              <a:t>LỜI NÓI GỢI Ý</a:t>
            </a:r>
          </a:p>
          <a:p>
            <a:r>
              <a:t>Định hướng của DocLint là chuyên vào hình thức của tài liệu đã có. Hệ thống không viết thay tác giả, không bổ sung kiến thức và không sửa số liệu. Phần cần cải thiện là khổ giấy, lề, định dạng theo vai trò, bìa, đề mục và các thành phần trình bày phù hợp. Giá trị khác với việc nhờ một công cụ AI viết lại cả báo cáo là người dùng biết phần nào được đổi và có quyền giữ nguyên. Phiên bản đầu vận hành bằng quy tắc, chưa cần API AI trả phí. Tuy nhiên, nếu mở web công cộng thì chi phí máy chủ và bảo trì vẫn tồn tại.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Nguyễn Đức Mười</a:t>
            </a:r>
          </a:p>
          <a:p>
            <a:r>
              <a:t>THỜI LƯỢNG: 55 giây | Mốc 03:35–04:30</a:t>
            </a:r>
          </a:p>
          <a:p/>
          <a:p>
            <a:r>
              <a:t>LỜI NÓI GỢI Ý</a:t>
            </a:r>
          </a:p>
          <a:p>
            <a:r>
              <a:t>Nguyên tắc giải quyết của nhóm gồm ba nhánh. Nhánh thứ nhất là tự sửa: ví dụ lề hoặc kiểu thân bài trong vùng rõ ràng và được phép xử lý. Nhánh thứ hai là hỏi người dùng: một dòng in hoa có thể là đề mục, nhưng cũng có thể chỉ là tên chủ đề cần giữ kiểu cũ. Khi đó có ba lựa chọn đúng ý nghĩa: giữ nguyên, chuyển thành thân bài hoặc gán làm đề mục. Những trường hợp tương đương được gom lại để không hỏi từng dòng. Nhánh thứ ba là giữ nguyên: với khung chữ hoặc đối tượng cố định có rủi ro, hệ thống không cố sửa. Cách phân nhánh này quan trọng hơn việc thay đổi thật nhiều.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Nguyễn Đức Lương</a:t>
            </a:r>
          </a:p>
          <a:p>
            <a:r>
              <a:t>THỜI LƯỢNG: 45 giây | Mốc 04:30–05:15</a:t>
            </a:r>
          </a:p>
          <a:p/>
          <a:p>
            <a:r>
              <a:t>LỜI NÓI GỢI Ý</a:t>
            </a:r>
          </a:p>
          <a:p>
            <a:r>
              <a:t>Em xin trình bày phần trải nghiệm sử dụng. Người dùng đi qua bốn bước. Đầu tiên tải tệp và chọn mẫu trình bày. Tiếp theo hệ thống phân tích rồi chỉ đưa những nhóm cần xác nhận. Sau khi chọn, người dùng dàn trang và xem trước. Cuối cùng họ tải Word, PDF nếu dựng được, cùng nhật ký riêng. Nếu muốn đổi lựa chọn, hệ thống chạy lại từ bản gốc, không sửa chồng lên bản đã sửa. Như vậy người dùng không cần hiểu các thẻ kỹ thuật. Khi một phần chưa xử lý được hoặc bản xem trước bị lỗi, giao diện phải nói rõ thay vì chỉ hiện thông báo chung chung.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Nguyễn Đức Lương</a:t>
            </a:r>
          </a:p>
          <a:p>
            <a:r>
              <a:t>THỜI LƯỢNG: 45 giây | Mốc 05:15–06:00</a:t>
            </a:r>
          </a:p>
          <a:p/>
          <a:p>
            <a:r>
              <a:t>LỜI NÓI GỢI Ý</a:t>
            </a:r>
          </a:p>
          <a:p>
            <a:r>
              <a:t>Đây là vùng bìa của cùng một mẫu tổng hợp, case không không, ở hai phiên bản xử lý. Bên trái là kết quả cũ: hệ thống nhận ra có bìa nhưng ba dòng chính vẫn bị căn trái. Nguyên nhân là nhận diện phạm vi và áp dụng kiểu cho các dòng chưa nhất quán. Bên phải là kết quả sau cải tiến: ba dòng được căn giữa và giữ vai trò của bìa. Trang ngang phía sau cũng được kiểm tra giữ lại trong ca này. Minh họa này cho thấy thay đổi cụ thể có thể đối chiếu, nhưng không được hiểu rằng mọi bìa của mọi báo cáo đã được nhận diện đúng.</a:t>
            </a:r>
          </a:p>
          <a:p/>
          <a:p>
            <a:r>
              <a:t>NGUỒN / PHẠM VI: Nguồn: ca hồi quy tổng hợp case 00; ảnh từ hai PDF đã kiểm chứng. Phóng to vùng bìa, không phải toàn trang.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Nguyễn Đức Lương</a:t>
            </a:r>
          </a:p>
          <a:p>
            <a:r>
              <a:t>THỜI LƯỢNG: 50 giây | Mốc 06:00–06:50</a:t>
            </a:r>
          </a:p>
          <a:p/>
          <a:p>
            <a:r>
              <a:t>LỜI NÓI GỢI Ý</a:t>
            </a:r>
          </a:p>
          <a:p>
            <a:r>
              <a:t>Không phải tài liệu Word nào cũng là các đoạn văn thông thường. Có tệp được ghép từ khung chữ và các cụm đặt theo tọa độ. Nếu đổi cỡ chữ hoặc giãn dòng hàng loạt, nội dung có thể tràn khung và làm hỏng các phần phía sau. Vì vậy DocLint chia phạm vi: phần theo luồng có thể sửa, phần cố định cần khóa lại. Với tài liệu không có vùng sửa an toàn, hệ thống có thể trả bản gốc và giải thích rằng chỉ bảo tồn. Giữ nguyên không có nghĩa cam kết mọi trang sẽ luôn giữ số thứ tự cũ, vì sửa phần khác vẫn có thể làm phân trang thay đổi. Quan trọng là không sửa vượt phạm vi.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Nguyễn Đức Lương</a:t>
            </a:r>
          </a:p>
          <a:p>
            <a:r>
              <a:t>THỜI LƯỢNG: 35 giây | Mốc 06:50–07:25</a:t>
            </a:r>
          </a:p>
          <a:p/>
          <a:p>
            <a:r>
              <a:t>LỜI NÓI GỢI Ý</a:t>
            </a:r>
          </a:p>
          <a:p>
            <a:r>
              <a:t>Về kỹ thuật, chỉ cần hình dung ba lớp. Lớp đầu đọc cấu trúc để hiểu đâu là thân bài, đề mục hoặc vùng cố định. Lớp thứ hai áp dụng quy tắc cùng lựa chọn của người dùng. Lớp cuối đối chiếu kết quả với những gì bắt buộc giữ. Công nghệ Python, FastAPI và OOXML phục vụ ba công việc này. Bộ dựng PDF hỗ trợ xem trước, còn tệp Word trả về do bộ xử lý chính tạo. Một tệp mở được chưa đủ; hệ thống còn phải kiểm tra thay đổi có đúng phạm vi hay không.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Nguyễn Đức Lương</a:t>
            </a:r>
          </a:p>
          <a:p>
            <a:r>
              <a:t>THỜI LƯỢNG: 50 giây | Mốc 07:25–08:15</a:t>
            </a:r>
          </a:p>
          <a:p/>
          <a:p>
            <a:r>
              <a:t>LỜI NÓI GỢI Ý</a:t>
            </a:r>
          </a:p>
          <a:p>
            <a:r>
              <a:t>Ở mốc mã nguồn được đối chiếu, bộ kiểm thử gồm 155 ca đã chạy đạt trên Python ba chấm mười hai và ba chấm mười bốn trong Linux. Đó là cùng một bộ kiểm thử chạy ở hai môi trường, không phải 310 ca khác nhau. Nhóm còn kiểm tra luồng trình duyệt, lựa chọn giữ nguyên, bìa và vùng khóa. Tuy vậy, các kết quả này chưa cho phép nói hệ thống nhận diện đúng mọi báo cáo hoặc tiết kiệm một số phút cố định. Điểm phải ưu tiên nghiệm thu là Microsoft Word thực tế: mục lục nhìn đúng ở PDF chưa đủ nếu cập nhật trường trong Word còn sai. Sự trung thực về giới hạn là một phần chất lượng sản phẩm.</a:t>
            </a:r>
          </a:p>
          <a:p/>
          <a:p>
            <a:r>
              <a:t>NGUỒN / PHẠM VI: Nguồn: báo cáo cuối kỳ, Chương 7; mốc lõi b0957f2. Kiểm thử Linux/Chromium không thay thế kiểm chứng Word/Windows.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Nguyễn Đức Lương</a:t>
            </a:r>
          </a:p>
          <a:p>
            <a:r>
              <a:t>THỜI LƯỢNG: 60 giây | Mốc 08:15–09:15</a:t>
            </a:r>
          </a:p>
          <a:p/>
          <a:p>
            <a:r>
              <a:t>LỜI NÓI GỢI Ý</a:t>
            </a:r>
          </a:p>
          <a:p>
            <a:r>
              <a:t>Lộ trình được tổ chức theo mười lăm tuần với các mốc bàn giao. Cần nói đúng lịch sử: hai tuần đầu nhóm theo hướng ECG, và chuyển sang DocLint từ tuần ba. Tuần ba đến năm tập trung chốt bài toán, khảo sát và lõi xử lý. Tuần sáu đến tám hoàn thiện luồng sử dụng cùng đề mục, bìa, bảng và hình. Tuần chín đến mười hai tập trung mục lục, bảo vệ tài liệu, xem trước và quản lý dữ liệu tạm. Ba tuần cuối ưu tiên hồi quy, Word trên Windows, tài liệu và bàn giao, thay vì mở rộng tính năng. Bạn Mười phụ trách chính nghiệp vụ và lõi xử lý; em phụ trách giao diện, tích hợp và kiểm thử. Cả hai cùng rà soát. Chi tiết từng tuần nằm ở phụ lục.</a:t>
            </a:r>
          </a:p>
          <a:p/>
          <a:p>
            <a:r>
              <a:t>NGUỒN / PHẠM VI: Tuần 1–5: căn cứ báo cáo tiến độ. Tuần 6–15: lộ trình hoàn thiện/nghiệm thu; không khẳng định mọi tuần đã thực hiện.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TRÌNH BÀY: Nguyễn Đức Lương</a:t>
            </a:r>
          </a:p>
          <a:p>
            <a:r>
              <a:t>THỜI LƯỢNG: 45 giây | Mốc 09:15–10:00</a:t>
            </a:r>
          </a:p>
          <a:p/>
          <a:p>
            <a:r>
              <a:t>LỜI NÓI GỢI Ý</a:t>
            </a:r>
          </a:p>
          <a:p>
            <a:r>
              <a:t>Tóm lại, DocLint không đặt mục tiêu tạo thật nhiều thay đổi hay viết thay người dùng. Mục tiêu là giúp báo cáo nhất quán hơn, giảm thao tác lặp lại và cho tác giả kiểm soát những quyết định quan trọng. Thứ tự hoàn thiện của nhóm là bảo toàn trước, tương thích Word và mục lục tiếp theo, rồi tiếp tục giảm lựa chọn không cần thiết và làm rõ việc cài đặt, bàn giao. Phiên bản đầu chưa dùng API AI trả phí và có giới hạn tài nguyên rõ ràng. Sản phẩm chỉ nên mở rộng khi những gì đang hỗ trợ đã được kiểm chứng. Nhóm chúng em xin cảm ơn thầy và các bạn, và sẵn sàng nhận câu hỏi.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 KHÔNG TÍNH VÀO 10 PHÚT</a:t>
            </a:r>
          </a:p>
          <a:p>
            <a:r>
              <a:t>Dùng khi được hỏi về tiến độ hoặc phân công. Tuần 1–2 thuộc đề tài ECG, tuần 3 chuyển DocLint. Các tuần 6–15 là kế hoạch hoàn thiện, không phải khẳng định mọi hoạt động đã hoàn tất.</a:t>
            </a:r>
          </a:p>
          <a:p/>
          <a:p>
            <a:r>
              <a:t>NGUỒN / PHẠM VI: Nguồn: báo cáo cuối kỳ, mục 8.4. Bảng rút gọn câu chữ để trình chiếu; trách nhiệm và đầu ra giữ cùng định hướng.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 KHÔNG TÍNH VÀO 10 PHÚT</a:t>
            </a:r>
          </a:p>
          <a:p>
            <a:r>
              <a:t>Dùng khi được hỏi về tiến độ hoặc phân công. Tuần 1–2 thuộc đề tài ECG, tuần 3 chuyển DocLint. Các tuần 6–15 là kế hoạch hoàn thiện, không phải khẳng định mọi hoạt động đã hoàn tất.</a:t>
            </a:r>
          </a:p>
          <a:p/>
          <a:p>
            <a:r>
              <a:t>NGUỒN / PHẠM VI: Nguồn: báo cáo cuối kỳ, mục 8.4. Bảng rút gọn câu chữ để trình chiếu; trách nhiệm và đầu ra giữ cùng định hướng.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 KHÔNG TÍNH VÀO 10 PHÚT</a:t>
            </a:r>
          </a:p>
          <a:p>
            <a:r>
              <a:t>Dùng khi được hỏi về tiến độ hoặc phân công. Tuần 1–2 thuộc đề tài ECG, tuần 3 chuyển DocLint. Các tuần 6–15 là kế hoạch hoàn thiện, không phải khẳng định mọi hoạt động đã hoàn tất.</a:t>
            </a:r>
          </a:p>
          <a:p/>
          <a:p>
            <a:r>
              <a:t>NGUỒN / PHẠM VI: Nguồn: báo cáo cuối kỳ, mục 8.4. Bảng rút gọn câu chữ để trình chiếu; trách nhiệm và đầu ra giữ cùng định hướng.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 KHÔNG TÍNH VÀO 10 PHÚT</a:t>
            </a:r>
          </a:p>
          <a:p>
            <a:r>
              <a:t>File tuần 4 không thống nhất: phần chữ ghi 15 phản hồi, biểu đồ đếm tương ứng 16. Theo lựa chọn của người dùng, bài chính dùng phần chữ n=15, đồng nhất với báo cáo Word. Không dùng tỷ lệ trong ảnh biểu đồ để trộn với số liệu chính. Khi có dữ liệu phản hồi thô cần xác minh lại trước khi công bố nghiên cứu.</a:t>
            </a:r>
          </a:p>
          <a:p/>
          <a:p>
            <a:r>
              <a:t>NGUỒN / PHẠM VI: Nguồn gốc: N57-57_Nguyễn Đức Mười_69_Nguyễn Đức Lương_tuần4.pptx, slide 4–6. Không công bố tập phản hồi thô.</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 KHÔNG TÍNH VÀO 10 PHÚT</a:t>
            </a:r>
          </a:p>
          <a:p>
            <a:r>
              <a:t>Các nguồn chính: báo cáo cuối kỳ DocLint; slide tuần 4 cho dữ liệu khảo sát; mốc mã nguồn b0957f2 cho kiểm thử; case 00 tổng hợp cho ảnh minh họa. Không công bố các tài liệu riêng tư người dùng đã tải lên. Khi trả lời câu hỏi, không biến TTL thành cam kết xóa pháp y, không đồng nhất PDF đúng với Word đúng và không gọi đây là công cụ viết báo cáo bằng AI.</a:t>
            </a:r>
          </a:p>
          <a:p/>
          <a:p>
            <a:r>
              <a:t>NGUỒN / PHẠM VI: Tài liệu đối chiếu: báo cáo cuối kỳ, Chương 5–9; kho mã github.com/ndm2006/DocLint, mốc lõi b0957f2.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B52033"/>
                </a:solidFill>
                <a:latin typeface="Arial"/>
              </a:rPr>
              <a:t>KỸ THUẬT PHẦN MỀM ỨNG DỤNG  •  NHÓM 57</a:t>
            </a:r>
          </a:p>
        </p:txBody>
      </p:sp>
      <p:cxnSp>
        <p:nvCxnSpPr>
          <p:cNvPr id="3" name="Connector 2"/>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DOCLINT  /  BÁO CÁO CUỐI KỲ</a:t>
            </a:r>
          </a:p>
        </p:txBody>
      </p:sp>
      <p:sp>
        <p:nvSpPr>
          <p:cNvPr id="5" name="TextBox 4"/>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01 / 13</a:t>
            </a:r>
          </a:p>
        </p:txBody>
      </p:sp>
      <p:sp>
        <p:nvSpPr>
          <p:cNvPr id="6" name="Rectangle 5"/>
          <p:cNvSpPr/>
          <p:nvPr/>
        </p:nvSpPr>
        <p:spPr>
          <a:xfrm>
            <a:off x="0" y="6821424"/>
            <a:ext cx="937846" cy="36576"/>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7" name="Picture 6" descr="image13.png"/>
          <p:cNvPicPr>
            <a:picLocks noChangeAspect="1"/>
          </p:cNvPicPr>
          <p:nvPr/>
        </p:nvPicPr>
        <p:blipFill>
          <a:blip r:embed="rId3"/>
          <a:stretch>
            <a:fillRect/>
          </a:stretch>
        </p:blipFill>
        <p:spPr>
          <a:xfrm>
            <a:off x="530352" y="777240"/>
            <a:ext cx="2487168" cy="745499"/>
          </a:xfrm>
          <a:prstGeom prst="rect">
            <a:avLst/>
          </a:prstGeom>
        </p:spPr>
      </p:pic>
      <p:sp>
        <p:nvSpPr>
          <p:cNvPr id="8" name="TextBox 7"/>
          <p:cNvSpPr txBox="1"/>
          <p:nvPr/>
        </p:nvSpPr>
        <p:spPr>
          <a:xfrm>
            <a:off x="530352" y="1865376"/>
            <a:ext cx="6492240" cy="914400"/>
          </a:xfrm>
          <a:prstGeom prst="rect">
            <a:avLst/>
          </a:prstGeom>
          <a:noFill/>
          <a:effectLst/>
        </p:spPr>
        <p:txBody>
          <a:bodyPr wrap="square" lIns="0" rIns="0" tIns="0" bIns="0" anchor="t">
            <a:spAutoFit/>
          </a:bodyPr>
          <a:lstStyle/>
          <a:p>
            <a:pPr algn="l">
              <a:lnSpc>
                <a:spcPct val="113000"/>
              </a:lnSpc>
              <a:spcBef>
                <a:spcPts val="0"/>
              </a:spcBef>
              <a:spcAft>
                <a:spcPts val="0"/>
              </a:spcAft>
            </a:pPr>
            <a:r>
              <a:rPr sz="6600" b="1" lang="vi-VN">
                <a:solidFill>
                  <a:srgbClr val="B52033"/>
                </a:solidFill>
                <a:latin typeface="Arial"/>
              </a:rPr>
              <a:t>DocLint</a:t>
            </a:r>
          </a:p>
        </p:txBody>
      </p:sp>
      <p:sp>
        <p:nvSpPr>
          <p:cNvPr id="9" name="TextBox 8"/>
          <p:cNvSpPr txBox="1"/>
          <p:nvPr/>
        </p:nvSpPr>
        <p:spPr>
          <a:xfrm>
            <a:off x="566928" y="2907792"/>
            <a:ext cx="6720840" cy="1188720"/>
          </a:xfrm>
          <a:prstGeom prst="rect">
            <a:avLst/>
          </a:prstGeom>
          <a:noFill/>
          <a:effectLst/>
        </p:spPr>
        <p:txBody>
          <a:bodyPr wrap="square" lIns="0" rIns="0" tIns="0" bIns="0" anchor="t">
            <a:spAutoFit/>
          </a:bodyPr>
          <a:lstStyle/>
          <a:p>
            <a:pPr algn="l">
              <a:lnSpc>
                <a:spcPct val="115000"/>
              </a:lnSpc>
              <a:spcBef>
                <a:spcPts val="0"/>
              </a:spcBef>
              <a:spcAft>
                <a:spcPts val="0"/>
              </a:spcAft>
            </a:pPr>
            <a:r>
              <a:rPr sz="2900" b="1" lang="vi-VN">
                <a:solidFill>
                  <a:srgbClr val="192A39"/>
                </a:solidFill>
                <a:latin typeface="Arial"/>
              </a:rPr>
              <a:t>Chuẩn hóa báo cáo Word.</a:t>
            </a:r>
          </a:p>
          <a:p>
            <a:pPr algn="l">
              <a:lnSpc>
                <a:spcPct val="115000"/>
              </a:lnSpc>
              <a:spcBef>
                <a:spcPts val="0"/>
              </a:spcBef>
              <a:spcAft>
                <a:spcPts val="0"/>
              </a:spcAft>
            </a:pPr>
            <a:r>
              <a:rPr sz="2900" b="1" lang="vi-VN">
                <a:solidFill>
                  <a:srgbClr val="192A39"/>
                </a:solidFill>
                <a:latin typeface="Arial"/>
              </a:rPr>
              <a:t>Giữ quyền kiểm soát cho tác giả.</a:t>
            </a:r>
          </a:p>
        </p:txBody>
      </p:sp>
      <p:sp>
        <p:nvSpPr>
          <p:cNvPr id="10" name="TextBox 9"/>
          <p:cNvSpPr txBox="1"/>
          <p:nvPr/>
        </p:nvSpPr>
        <p:spPr>
          <a:xfrm>
            <a:off x="566928" y="4809744"/>
            <a:ext cx="6400800" cy="603504"/>
          </a:xfrm>
          <a:prstGeom prst="rect">
            <a:avLst/>
          </a:prstGeom>
          <a:noFill/>
          <a:effectLst/>
        </p:spPr>
        <p:txBody>
          <a:bodyPr wrap="square" lIns="0" rIns="0" tIns="0" bIns="0" anchor="t">
            <a:spAutoFit/>
          </a:bodyPr>
          <a:lstStyle/>
          <a:p>
            <a:pPr algn="l">
              <a:lnSpc>
                <a:spcPct val="120000"/>
              </a:lnSpc>
              <a:spcBef>
                <a:spcPts val="0"/>
              </a:spcBef>
              <a:spcAft>
                <a:spcPts val="0"/>
              </a:spcAft>
            </a:pPr>
            <a:r>
              <a:rPr sz="1700" b="0" lang="vi-VN">
                <a:solidFill>
                  <a:srgbClr val="596A77"/>
                </a:solidFill>
                <a:latin typeface="Arial"/>
              </a:rPr>
              <a:t>Nguyễn Đức Mười · 202414269</a:t>
            </a:r>
          </a:p>
          <a:p>
            <a:pPr algn="l">
              <a:lnSpc>
                <a:spcPct val="120000"/>
              </a:lnSpc>
              <a:spcBef>
                <a:spcPts val="0"/>
              </a:spcBef>
              <a:spcAft>
                <a:spcPts val="0"/>
              </a:spcAft>
            </a:pPr>
            <a:r>
              <a:rPr sz="1700" b="0" lang="vi-VN">
                <a:solidFill>
                  <a:srgbClr val="596A77"/>
                </a:solidFill>
                <a:latin typeface="Arial"/>
              </a:rPr>
              <a:t>Nguyễn Đức Lương · 202414235</a:t>
            </a:r>
          </a:p>
        </p:txBody>
      </p:sp>
      <p:sp>
        <p:nvSpPr>
          <p:cNvPr id="11" name="Rectangle 10"/>
          <p:cNvSpPr/>
          <p:nvPr/>
        </p:nvSpPr>
        <p:spPr>
          <a:xfrm>
            <a:off x="8028431" y="1490472"/>
            <a:ext cx="2816352" cy="3977639"/>
          </a:xfrm>
          <a:prstGeom prst="rect">
            <a:avLst/>
          </a:prstGeom>
          <a:solidFill>
            <a:srgbClr val="E9ED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7955279" y="1399032"/>
            <a:ext cx="2816352" cy="3977639"/>
          </a:xfrm>
          <a:prstGeom prst="rect">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8229600" y="1627632"/>
            <a:ext cx="2267712" cy="64008"/>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229600" y="1929384"/>
            <a:ext cx="1600200" cy="45720"/>
          </a:xfrm>
          <a:prstGeom prst="rect">
            <a:avLst/>
          </a:prstGeom>
          <a:solidFill>
            <a:srgbClr val="192A3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8229600" y="2148840"/>
            <a:ext cx="2057400" cy="45720"/>
          </a:xfrm>
          <a:prstGeom prst="rect">
            <a:avLst/>
          </a:prstGeom>
          <a:solidFill>
            <a:srgbClr val="192A3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8229600" y="2514600"/>
            <a:ext cx="1920240" cy="45720"/>
          </a:xfrm>
          <a:prstGeom prst="rect">
            <a:avLst/>
          </a:prstGeom>
          <a:solidFill>
            <a:srgbClr val="DADF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229600" y="2697480"/>
            <a:ext cx="1920240" cy="45720"/>
          </a:xfrm>
          <a:prstGeom prst="rect">
            <a:avLst/>
          </a:prstGeom>
          <a:solidFill>
            <a:srgbClr val="DADF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8229600" y="2880360"/>
            <a:ext cx="1920240" cy="45720"/>
          </a:xfrm>
          <a:prstGeom prst="rect">
            <a:avLst/>
          </a:prstGeom>
          <a:solidFill>
            <a:srgbClr val="DADF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8229600" y="3273552"/>
            <a:ext cx="1645920" cy="45720"/>
          </a:xfrm>
          <a:prstGeom prst="rect">
            <a:avLst/>
          </a:prstGeom>
          <a:solidFill>
            <a:srgbClr val="DADF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8229600" y="3465576"/>
            <a:ext cx="1920240" cy="45720"/>
          </a:xfrm>
          <a:prstGeom prst="rect">
            <a:avLst/>
          </a:prstGeom>
          <a:solidFill>
            <a:srgbClr val="DADF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8229600" y="3648456"/>
            <a:ext cx="1920240" cy="45720"/>
          </a:xfrm>
          <a:prstGeom prst="rect">
            <a:avLst/>
          </a:prstGeom>
          <a:solidFill>
            <a:srgbClr val="DADF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8229600" y="3831336"/>
            <a:ext cx="1920240" cy="45720"/>
          </a:xfrm>
          <a:prstGeom prst="rect">
            <a:avLst/>
          </a:prstGeom>
          <a:solidFill>
            <a:srgbClr val="DADF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8229600" y="4187952"/>
            <a:ext cx="2267712" cy="576072"/>
          </a:xfrm>
          <a:prstGeom prst="rect">
            <a:avLst/>
          </a:prstGeom>
          <a:solidFill>
            <a:srgbClr val="E4F1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4" name="Connector 23"/>
          <p:cNvCxnSpPr/>
          <p:nvPr/>
        </p:nvCxnSpPr>
        <p:spPr>
          <a:xfrm>
            <a:off x="8229600" y="4471416"/>
            <a:ext cx="2267711" cy="0"/>
          </a:xfrm>
          <a:prstGeom prst="line">
            <a:avLst/>
          </a:prstGeom>
          <a:ln w="8890">
            <a:solidFill>
              <a:srgbClr val="0B796B"/>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9363455" y="4187952"/>
            <a:ext cx="0" cy="576072"/>
          </a:xfrm>
          <a:prstGeom prst="line">
            <a:avLst/>
          </a:prstGeom>
          <a:ln w="8890">
            <a:solidFill>
              <a:srgbClr val="0B796B"/>
            </a:solidFill>
          </a:ln>
          <a:effectLst/>
        </p:spPr>
        <p:style>
          <a:lnRef idx="2">
            <a:schemeClr val="accent1"/>
          </a:lnRef>
          <a:fillRef idx="0">
            <a:schemeClr val="accent1"/>
          </a:fillRef>
          <a:effectRef idx="0">
            <a:schemeClr val="accent1"/>
          </a:effectRef>
          <a:fontRef idx="minor">
            <a:schemeClr val="tx1"/>
          </a:fontRef>
        </p:style>
      </p:cxnSp>
      <p:sp>
        <p:nvSpPr>
          <p:cNvPr id="26" name="Rounded Rectangle 25"/>
          <p:cNvSpPr/>
          <p:nvPr/>
        </p:nvSpPr>
        <p:spPr>
          <a:xfrm>
            <a:off x="7699248" y="5504688"/>
            <a:ext cx="3611880" cy="310896"/>
          </a:xfrm>
          <a:prstGeom prst="roundRect">
            <a:avLst>
              <a:gd name="adj" fmla="val 8000"/>
            </a:avLst>
          </a:prstGeom>
          <a:solidFill>
            <a:srgbClr val="E4F1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781544" y="5564124"/>
            <a:ext cx="3447288" cy="219456"/>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0B796B"/>
                </a:solidFill>
                <a:latin typeface="Arial"/>
              </a:rPr>
              <a:t>BỐ CỤC RÕ · NỘI DUNG GIỮ LẠI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B52033"/>
                </a:solidFill>
                <a:latin typeface="Arial"/>
              </a:rPr>
              <a:t>01  /  VẤN ĐỀ NGƯỜI DÙNG</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Viết xong nội dung, vẫn chưa xong báo cáo.</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DOCLINT  /  BÁO CÁO CUỐI KỲ</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02 / 13</a:t>
            </a:r>
          </a:p>
        </p:txBody>
      </p:sp>
      <p:sp>
        <p:nvSpPr>
          <p:cNvPr id="7" name="Rectangle 6"/>
          <p:cNvSpPr/>
          <p:nvPr/>
        </p:nvSpPr>
        <p:spPr>
          <a:xfrm>
            <a:off x="0" y="6821424"/>
            <a:ext cx="1875692" cy="36576"/>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530352" y="2103120"/>
            <a:ext cx="3611880" cy="2468880"/>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49808" y="2304288"/>
            <a:ext cx="640080" cy="457200"/>
          </a:xfrm>
          <a:prstGeom prst="rect">
            <a:avLst/>
          </a:prstGeom>
          <a:noFill/>
          <a:effectLst/>
        </p:spPr>
        <p:txBody>
          <a:bodyPr wrap="square" lIns="0" rIns="0" tIns="0" bIns="0" anchor="t">
            <a:spAutoFit/>
          </a:bodyPr>
          <a:lstStyle/>
          <a:p>
            <a:pPr algn="l">
              <a:lnSpc>
                <a:spcPct val="113000"/>
              </a:lnSpc>
              <a:spcBef>
                <a:spcPts val="0"/>
              </a:spcBef>
              <a:spcAft>
                <a:spcPts val="0"/>
              </a:spcAft>
            </a:pPr>
            <a:r>
              <a:rPr sz="2700" b="1" lang="vi-VN">
                <a:solidFill>
                  <a:srgbClr val="B52033"/>
                </a:solidFill>
                <a:latin typeface="Arial"/>
              </a:rPr>
              <a:t>01</a:t>
            </a:r>
          </a:p>
        </p:txBody>
      </p:sp>
      <p:sp>
        <p:nvSpPr>
          <p:cNvPr id="10" name="TextBox 9"/>
          <p:cNvSpPr txBox="1"/>
          <p:nvPr/>
        </p:nvSpPr>
        <p:spPr>
          <a:xfrm>
            <a:off x="749808" y="2962656"/>
            <a:ext cx="3182112" cy="411480"/>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192A39"/>
                </a:solidFill>
                <a:latin typeface="Arial"/>
              </a:rPr>
              <a:t>Sao chép nhiều nguồn</a:t>
            </a:r>
          </a:p>
        </p:txBody>
      </p:sp>
      <p:sp>
        <p:nvSpPr>
          <p:cNvPr id="11" name="TextBox 10"/>
          <p:cNvSpPr txBox="1"/>
          <p:nvPr/>
        </p:nvSpPr>
        <p:spPr>
          <a:xfrm>
            <a:off x="749808" y="3547872"/>
            <a:ext cx="3182112" cy="777240"/>
          </a:xfrm>
          <a:prstGeom prst="rect">
            <a:avLst/>
          </a:prstGeom>
          <a:noFill/>
          <a:effectLst/>
        </p:spPr>
        <p:txBody>
          <a:bodyPr wrap="square" lIns="0" rIns="0" tIns="0" bIns="0" anchor="t">
            <a:spAutoFit/>
          </a:bodyPr>
          <a:lstStyle/>
          <a:p>
            <a:pPr algn="l">
              <a:lnSpc>
                <a:spcPct val="120000"/>
              </a:lnSpc>
              <a:spcBef>
                <a:spcPts val="0"/>
              </a:spcBef>
              <a:spcAft>
                <a:spcPts val="0"/>
              </a:spcAft>
            </a:pPr>
            <a:r>
              <a:rPr sz="1900" b="0" lang="vi-VN">
                <a:solidFill>
                  <a:srgbClr val="596A77"/>
                </a:solidFill>
                <a:latin typeface="Arial"/>
              </a:rPr>
              <a:t>Phông chữ và giãn dòng</a:t>
            </a:r>
          </a:p>
          <a:p>
            <a:pPr algn="l">
              <a:lnSpc>
                <a:spcPct val="120000"/>
              </a:lnSpc>
              <a:spcBef>
                <a:spcPts val="0"/>
              </a:spcBef>
              <a:spcAft>
                <a:spcPts val="0"/>
              </a:spcAft>
            </a:pPr>
            <a:r>
              <a:rPr sz="1900" b="0" lang="vi-VN">
                <a:solidFill>
                  <a:srgbClr val="596A77"/>
                </a:solidFill>
                <a:latin typeface="Arial"/>
              </a:rPr>
              <a:t>không đồng nhất.</a:t>
            </a:r>
          </a:p>
        </p:txBody>
      </p:sp>
      <p:sp>
        <p:nvSpPr>
          <p:cNvPr id="12" name="Rounded Rectangle 11"/>
          <p:cNvSpPr/>
          <p:nvPr/>
        </p:nvSpPr>
        <p:spPr>
          <a:xfrm>
            <a:off x="4334256" y="2103120"/>
            <a:ext cx="3611880" cy="2468880"/>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553712" y="2304288"/>
            <a:ext cx="640080" cy="457200"/>
          </a:xfrm>
          <a:prstGeom prst="rect">
            <a:avLst/>
          </a:prstGeom>
          <a:noFill/>
          <a:effectLst/>
        </p:spPr>
        <p:txBody>
          <a:bodyPr wrap="square" lIns="0" rIns="0" tIns="0" bIns="0" anchor="t">
            <a:spAutoFit/>
          </a:bodyPr>
          <a:lstStyle/>
          <a:p>
            <a:pPr algn="l">
              <a:lnSpc>
                <a:spcPct val="113000"/>
              </a:lnSpc>
              <a:spcBef>
                <a:spcPts val="0"/>
              </a:spcBef>
              <a:spcAft>
                <a:spcPts val="0"/>
              </a:spcAft>
            </a:pPr>
            <a:r>
              <a:rPr sz="2700" b="1" lang="vi-VN">
                <a:solidFill>
                  <a:srgbClr val="B52033"/>
                </a:solidFill>
                <a:latin typeface="Arial"/>
              </a:rPr>
              <a:t>02</a:t>
            </a:r>
          </a:p>
        </p:txBody>
      </p:sp>
      <p:sp>
        <p:nvSpPr>
          <p:cNvPr id="14" name="TextBox 13"/>
          <p:cNvSpPr txBox="1"/>
          <p:nvPr/>
        </p:nvSpPr>
        <p:spPr>
          <a:xfrm>
            <a:off x="4553712" y="2962656"/>
            <a:ext cx="3182112" cy="411480"/>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192A39"/>
                </a:solidFill>
                <a:latin typeface="Arial"/>
              </a:rPr>
              <a:t>Căn chỉnh bằng tay</a:t>
            </a:r>
          </a:p>
        </p:txBody>
      </p:sp>
      <p:sp>
        <p:nvSpPr>
          <p:cNvPr id="15" name="TextBox 14"/>
          <p:cNvSpPr txBox="1"/>
          <p:nvPr/>
        </p:nvSpPr>
        <p:spPr>
          <a:xfrm>
            <a:off x="4553712" y="3547872"/>
            <a:ext cx="3182112" cy="777240"/>
          </a:xfrm>
          <a:prstGeom prst="rect">
            <a:avLst/>
          </a:prstGeom>
          <a:noFill/>
          <a:effectLst/>
        </p:spPr>
        <p:txBody>
          <a:bodyPr wrap="square" lIns="0" rIns="0" tIns="0" bIns="0" anchor="t">
            <a:spAutoFit/>
          </a:bodyPr>
          <a:lstStyle/>
          <a:p>
            <a:pPr algn="l">
              <a:lnSpc>
                <a:spcPct val="120000"/>
              </a:lnSpc>
              <a:spcBef>
                <a:spcPts val="0"/>
              </a:spcBef>
              <a:spcAft>
                <a:spcPts val="0"/>
              </a:spcAft>
            </a:pPr>
            <a:r>
              <a:rPr sz="1900" b="0" lang="vi-VN">
                <a:solidFill>
                  <a:srgbClr val="596A77"/>
                </a:solidFill>
                <a:latin typeface="Arial"/>
              </a:rPr>
              <a:t>Space, Tab, Enter được</a:t>
            </a:r>
          </a:p>
          <a:p>
            <a:pPr algn="l">
              <a:lnSpc>
                <a:spcPct val="120000"/>
              </a:lnSpc>
              <a:spcBef>
                <a:spcPts val="0"/>
              </a:spcBef>
              <a:spcAft>
                <a:spcPts val="0"/>
              </a:spcAft>
            </a:pPr>
            <a:r>
              <a:rPr sz="1900" b="0" lang="vi-VN">
                <a:solidFill>
                  <a:srgbClr val="596A77"/>
                </a:solidFill>
                <a:latin typeface="Arial"/>
              </a:rPr>
              <a:t>dùng thay công cụ bố cục.</a:t>
            </a:r>
          </a:p>
        </p:txBody>
      </p:sp>
      <p:sp>
        <p:nvSpPr>
          <p:cNvPr id="16" name="Rounded Rectangle 15"/>
          <p:cNvSpPr/>
          <p:nvPr/>
        </p:nvSpPr>
        <p:spPr>
          <a:xfrm>
            <a:off x="8138160" y="2103120"/>
            <a:ext cx="3611880" cy="2468880"/>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57616" y="2304288"/>
            <a:ext cx="640080" cy="457200"/>
          </a:xfrm>
          <a:prstGeom prst="rect">
            <a:avLst/>
          </a:prstGeom>
          <a:noFill/>
          <a:effectLst/>
        </p:spPr>
        <p:txBody>
          <a:bodyPr wrap="square" lIns="0" rIns="0" tIns="0" bIns="0" anchor="t">
            <a:spAutoFit/>
          </a:bodyPr>
          <a:lstStyle/>
          <a:p>
            <a:pPr algn="l">
              <a:lnSpc>
                <a:spcPct val="113000"/>
              </a:lnSpc>
              <a:spcBef>
                <a:spcPts val="0"/>
              </a:spcBef>
              <a:spcAft>
                <a:spcPts val="0"/>
              </a:spcAft>
            </a:pPr>
            <a:r>
              <a:rPr sz="2700" b="1" lang="vi-VN">
                <a:solidFill>
                  <a:srgbClr val="B52033"/>
                </a:solidFill>
                <a:latin typeface="Arial"/>
              </a:rPr>
              <a:t>03</a:t>
            </a:r>
          </a:p>
        </p:txBody>
      </p:sp>
      <p:sp>
        <p:nvSpPr>
          <p:cNvPr id="18" name="TextBox 17"/>
          <p:cNvSpPr txBox="1"/>
          <p:nvPr/>
        </p:nvSpPr>
        <p:spPr>
          <a:xfrm>
            <a:off x="8357616" y="2962656"/>
            <a:ext cx="3182112" cy="411480"/>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192A39"/>
                </a:solidFill>
                <a:latin typeface="Arial"/>
              </a:rPr>
              <a:t>Đề mục chỉ nhìn giống</a:t>
            </a:r>
          </a:p>
        </p:txBody>
      </p:sp>
      <p:sp>
        <p:nvSpPr>
          <p:cNvPr id="19" name="TextBox 18"/>
          <p:cNvSpPr txBox="1"/>
          <p:nvPr/>
        </p:nvSpPr>
        <p:spPr>
          <a:xfrm>
            <a:off x="8357616" y="3547872"/>
            <a:ext cx="3182112" cy="777240"/>
          </a:xfrm>
          <a:prstGeom prst="rect">
            <a:avLst/>
          </a:prstGeom>
          <a:noFill/>
          <a:effectLst/>
        </p:spPr>
        <p:txBody>
          <a:bodyPr wrap="square" lIns="0" rIns="0" tIns="0" bIns="0" anchor="t">
            <a:spAutoFit/>
          </a:bodyPr>
          <a:lstStyle/>
          <a:p>
            <a:pPr algn="l">
              <a:lnSpc>
                <a:spcPct val="120000"/>
              </a:lnSpc>
              <a:spcBef>
                <a:spcPts val="0"/>
              </a:spcBef>
              <a:spcAft>
                <a:spcPts val="0"/>
              </a:spcAft>
            </a:pPr>
            <a:r>
              <a:rPr sz="1900" b="0" lang="vi-VN">
                <a:solidFill>
                  <a:srgbClr val="596A77"/>
                </a:solidFill>
                <a:latin typeface="Arial"/>
              </a:rPr>
              <a:t>Bôi đậm hoặc viết hoa</a:t>
            </a:r>
          </a:p>
          <a:p>
            <a:pPr algn="l">
              <a:lnSpc>
                <a:spcPct val="120000"/>
              </a:lnSpc>
              <a:spcBef>
                <a:spcPts val="0"/>
              </a:spcBef>
              <a:spcAft>
                <a:spcPts val="0"/>
              </a:spcAft>
            </a:pPr>
            <a:r>
              <a:rPr sz="1900" b="0" lang="vi-VN">
                <a:solidFill>
                  <a:srgbClr val="596A77"/>
                </a:solidFill>
                <a:latin typeface="Arial"/>
              </a:rPr>
              <a:t>nhưng thiếu cấu trúc.</a:t>
            </a:r>
          </a:p>
        </p:txBody>
      </p:sp>
      <p:sp>
        <p:nvSpPr>
          <p:cNvPr id="20" name="Rounded Rectangle 19"/>
          <p:cNvSpPr/>
          <p:nvPr/>
        </p:nvSpPr>
        <p:spPr>
          <a:xfrm>
            <a:off x="530352" y="4919472"/>
            <a:ext cx="11128248" cy="713232"/>
          </a:xfrm>
          <a:prstGeom prst="roundRect">
            <a:avLst>
              <a:gd name="adj" fmla="val 8000"/>
            </a:avLst>
          </a:prstGeom>
          <a:solidFill>
            <a:srgbClr val="142A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77240" y="5111496"/>
            <a:ext cx="10607040" cy="393192"/>
          </a:xfrm>
          <a:prstGeom prst="rect">
            <a:avLst/>
          </a:prstGeom>
          <a:noFill/>
          <a:effectLst/>
        </p:spPr>
        <p:txBody>
          <a:bodyPr wrap="square" lIns="0" rIns="0" tIns="0" bIns="0" anchor="t">
            <a:spAutoFit/>
          </a:bodyPr>
          <a:lstStyle/>
          <a:p>
            <a:pPr algn="ctr">
              <a:lnSpc>
                <a:spcPct val="113000"/>
              </a:lnSpc>
              <a:spcBef>
                <a:spcPts val="0"/>
              </a:spcBef>
              <a:spcAft>
                <a:spcPts val="0"/>
              </a:spcAft>
            </a:pPr>
            <a:r>
              <a:rPr sz="2500" b="1" lang="vi-VN">
                <a:solidFill>
                  <a:srgbClr val="FFFFFF"/>
                </a:solidFill>
                <a:latin typeface="Arial"/>
              </a:rPr>
              <a:t>“Chỉnh chỗ này, lại lệch chỗ khác.”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B52033"/>
                </a:solidFill>
                <a:latin typeface="Arial"/>
              </a:rPr>
              <a:t>02  /  BẰNG CHỨNG KHẢO SÁT</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Thời gian bị cuốn vào chỉnh hình thức.</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DOCLINT  /  BÁO CÁO CUỐI KỲ</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03 / 13</a:t>
            </a:r>
          </a:p>
        </p:txBody>
      </p:sp>
      <p:sp>
        <p:nvSpPr>
          <p:cNvPr id="7" name="TextBox 6"/>
          <p:cNvSpPr txBox="1"/>
          <p:nvPr/>
        </p:nvSpPr>
        <p:spPr>
          <a:xfrm>
            <a:off x="548640" y="5989320"/>
            <a:ext cx="11109960" cy="274320"/>
          </a:xfrm>
          <a:prstGeom prst="rect">
            <a:avLst/>
          </a:prstGeom>
          <a:noFill/>
          <a:effectLst/>
        </p:spPr>
        <p:txBody>
          <a:bodyPr wrap="square" lIns="0" rIns="0" tIns="0" bIns="0" anchor="t">
            <a:spAutoFit/>
          </a:bodyPr>
          <a:lstStyle/>
          <a:p>
            <a:pPr algn="l">
              <a:lnSpc>
                <a:spcPct val="100000"/>
              </a:lnSpc>
              <a:spcBef>
                <a:spcPts val="0"/>
              </a:spcBef>
              <a:spcAft>
                <a:spcPts val="0"/>
              </a:spcAft>
            </a:pPr>
            <a:r>
              <a:rPr sz="930" b="0" lang="vi-VN">
                <a:solidFill>
                  <a:srgbClr val="596A77"/>
                </a:solidFill>
                <a:latin typeface="Arial"/>
              </a:rPr>
              <a:t>Nguồn: phần thuyết minh slide tuần 4, slide 4 và 6; n = 15. 80% = 60% + 20%. Khảo sát thăm dò.</a:t>
            </a:r>
          </a:p>
        </p:txBody>
      </p:sp>
      <p:sp>
        <p:nvSpPr>
          <p:cNvPr id="8" name="Rectangle 7"/>
          <p:cNvSpPr/>
          <p:nvPr/>
        </p:nvSpPr>
        <p:spPr>
          <a:xfrm>
            <a:off x="0" y="6821424"/>
            <a:ext cx="2813538" cy="36576"/>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66928" y="1901952"/>
            <a:ext cx="5120640" cy="1234440"/>
          </a:xfrm>
          <a:prstGeom prst="rect">
            <a:avLst/>
          </a:prstGeom>
          <a:noFill/>
          <a:effectLst/>
        </p:spPr>
        <p:txBody>
          <a:bodyPr wrap="square" lIns="0" rIns="0" tIns="0" bIns="0" anchor="t">
            <a:spAutoFit/>
          </a:bodyPr>
          <a:lstStyle/>
          <a:p>
            <a:pPr algn="l">
              <a:lnSpc>
                <a:spcPct val="113000"/>
              </a:lnSpc>
              <a:spcBef>
                <a:spcPts val="0"/>
              </a:spcBef>
              <a:spcAft>
                <a:spcPts val="0"/>
              </a:spcAft>
            </a:pPr>
            <a:r>
              <a:rPr sz="8900" b="1" lang="vi-VN">
                <a:solidFill>
                  <a:srgbClr val="B52033"/>
                </a:solidFill>
                <a:latin typeface="Arial"/>
              </a:rPr>
              <a:t>80%</a:t>
            </a:r>
          </a:p>
        </p:txBody>
      </p:sp>
      <p:sp>
        <p:nvSpPr>
          <p:cNvPr id="10" name="TextBox 9"/>
          <p:cNvSpPr txBox="1"/>
          <p:nvPr/>
        </p:nvSpPr>
        <p:spPr>
          <a:xfrm>
            <a:off x="621792" y="3273552"/>
            <a:ext cx="5029200" cy="932688"/>
          </a:xfrm>
          <a:prstGeom prst="rect">
            <a:avLst/>
          </a:prstGeom>
          <a:noFill/>
          <a:effectLst/>
        </p:spPr>
        <p:txBody>
          <a:bodyPr wrap="square" lIns="0" rIns="0" tIns="0" bIns="0" anchor="t">
            <a:spAutoFit/>
          </a:bodyPr>
          <a:lstStyle/>
          <a:p>
            <a:pPr algn="l">
              <a:lnSpc>
                <a:spcPct val="113000"/>
              </a:lnSpc>
              <a:spcBef>
                <a:spcPts val="0"/>
              </a:spcBef>
              <a:spcAft>
                <a:spcPts val="0"/>
              </a:spcAft>
            </a:pPr>
            <a:r>
              <a:rPr sz="2500" b="1" lang="vi-VN">
                <a:solidFill>
                  <a:srgbClr val="192A39"/>
                </a:solidFill>
                <a:latin typeface="Arial"/>
              </a:rPr>
              <a:t>12/15 phản hồi dành ít nhất</a:t>
            </a:r>
          </a:p>
          <a:p>
            <a:pPr algn="l">
              <a:lnSpc>
                <a:spcPct val="113000"/>
              </a:lnSpc>
              <a:spcBef>
                <a:spcPts val="0"/>
              </a:spcBef>
              <a:spcAft>
                <a:spcPts val="0"/>
              </a:spcAft>
            </a:pPr>
            <a:r>
              <a:rPr sz="2500" b="1" lang="vi-VN">
                <a:solidFill>
                  <a:srgbClr val="192A39"/>
                </a:solidFill>
                <a:latin typeface="Arial"/>
              </a:rPr>
              <a:t>30 phút để chỉnh hình thức.</a:t>
            </a:r>
          </a:p>
        </p:txBody>
      </p:sp>
      <p:sp>
        <p:nvSpPr>
          <p:cNvPr id="11" name="TextBox 10"/>
          <p:cNvSpPr txBox="1"/>
          <p:nvPr/>
        </p:nvSpPr>
        <p:spPr>
          <a:xfrm>
            <a:off x="621792" y="4645152"/>
            <a:ext cx="5166360" cy="731520"/>
          </a:xfrm>
          <a:prstGeom prst="rect">
            <a:avLst/>
          </a:prstGeom>
          <a:noFill/>
          <a:effectLst/>
        </p:spPr>
        <p:txBody>
          <a:bodyPr wrap="square" lIns="0" rIns="0" tIns="0" bIns="0" anchor="t">
            <a:spAutoFit/>
          </a:bodyPr>
          <a:lstStyle/>
          <a:p>
            <a:pPr algn="l">
              <a:lnSpc>
                <a:spcPct val="113000"/>
              </a:lnSpc>
              <a:spcBef>
                <a:spcPts val="0"/>
              </a:spcBef>
              <a:spcAft>
                <a:spcPts val="0"/>
              </a:spcAft>
            </a:pPr>
            <a:r>
              <a:rPr sz="1800" b="0" lang="vi-VN">
                <a:solidFill>
                  <a:srgbClr val="596A77"/>
                </a:solidFill>
                <a:latin typeface="Arial"/>
              </a:rPr>
              <a:t>Nhu cầu đã rõ. Hiệu quả của sản phẩm</a:t>
            </a:r>
          </a:p>
          <a:p>
            <a:pPr algn="l">
              <a:lnSpc>
                <a:spcPct val="113000"/>
              </a:lnSpc>
              <a:spcBef>
                <a:spcPts val="0"/>
              </a:spcBef>
              <a:spcAft>
                <a:spcPts val="0"/>
              </a:spcAft>
            </a:pPr>
            <a:r>
              <a:rPr sz="1800" b="0" lang="vi-VN">
                <a:solidFill>
                  <a:srgbClr val="596A77"/>
                </a:solidFill>
                <a:latin typeface="Arial"/>
              </a:rPr>
              <a:t>vẫn cần đo sau khi sử dụng.</a:t>
            </a:r>
          </a:p>
        </p:txBody>
      </p:sp>
      <p:sp>
        <p:nvSpPr>
          <p:cNvPr id="12" name="Rounded Rectangle 11"/>
          <p:cNvSpPr/>
          <p:nvPr/>
        </p:nvSpPr>
        <p:spPr>
          <a:xfrm>
            <a:off x="6428232" y="2039112"/>
            <a:ext cx="5166360" cy="1426464"/>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647688" y="2276856"/>
            <a:ext cx="1572768" cy="758952"/>
          </a:xfrm>
          <a:prstGeom prst="rect">
            <a:avLst/>
          </a:prstGeom>
          <a:noFill/>
          <a:effectLst/>
        </p:spPr>
        <p:txBody>
          <a:bodyPr wrap="square" lIns="0" rIns="0" tIns="0" bIns="0" anchor="t">
            <a:spAutoFit/>
          </a:bodyPr>
          <a:lstStyle/>
          <a:p>
            <a:pPr algn="l">
              <a:lnSpc>
                <a:spcPct val="113000"/>
              </a:lnSpc>
              <a:spcBef>
                <a:spcPts val="0"/>
              </a:spcBef>
              <a:spcAft>
                <a:spcPts val="0"/>
              </a:spcAft>
            </a:pPr>
            <a:r>
              <a:rPr sz="4400" b="1" lang="vi-VN">
                <a:solidFill>
                  <a:srgbClr val="B52033"/>
                </a:solidFill>
                <a:latin typeface="Arial"/>
              </a:rPr>
              <a:t>60%</a:t>
            </a:r>
          </a:p>
        </p:txBody>
      </p:sp>
      <p:sp>
        <p:nvSpPr>
          <p:cNvPr id="14" name="TextBox 13"/>
          <p:cNvSpPr txBox="1"/>
          <p:nvPr/>
        </p:nvSpPr>
        <p:spPr>
          <a:xfrm>
            <a:off x="8394192" y="2295144"/>
            <a:ext cx="2880360" cy="411480"/>
          </a:xfrm>
          <a:prstGeom prst="rect">
            <a:avLst/>
          </a:prstGeom>
          <a:noFill/>
          <a:effectLst/>
        </p:spPr>
        <p:txBody>
          <a:bodyPr wrap="square" lIns="0" rIns="0" tIns="0" bIns="0" anchor="t">
            <a:spAutoFit/>
          </a:bodyPr>
          <a:lstStyle/>
          <a:p>
            <a:pPr algn="l">
              <a:lnSpc>
                <a:spcPct val="113000"/>
              </a:lnSpc>
              <a:spcBef>
                <a:spcPts val="0"/>
              </a:spcBef>
              <a:spcAft>
                <a:spcPts val="0"/>
              </a:spcAft>
            </a:pPr>
            <a:r>
              <a:rPr sz="2300" b="1" lang="vi-VN">
                <a:solidFill>
                  <a:srgbClr val="192A39"/>
                </a:solidFill>
                <a:latin typeface="Arial"/>
              </a:rPr>
              <a:t>30–60 phút</a:t>
            </a:r>
          </a:p>
        </p:txBody>
      </p:sp>
      <p:sp>
        <p:nvSpPr>
          <p:cNvPr id="15" name="TextBox 14"/>
          <p:cNvSpPr txBox="1"/>
          <p:nvPr/>
        </p:nvSpPr>
        <p:spPr>
          <a:xfrm>
            <a:off x="8394192" y="2862072"/>
            <a:ext cx="2834640" cy="320040"/>
          </a:xfrm>
          <a:prstGeom prst="rect">
            <a:avLst/>
          </a:prstGeom>
          <a:noFill/>
          <a:effectLst/>
        </p:spPr>
        <p:txBody>
          <a:bodyPr wrap="square" lIns="0" rIns="0" tIns="0" bIns="0" anchor="t">
            <a:spAutoFit/>
          </a:bodyPr>
          <a:lstStyle/>
          <a:p>
            <a:pPr algn="l">
              <a:lnSpc>
                <a:spcPct val="113000"/>
              </a:lnSpc>
              <a:spcBef>
                <a:spcPts val="0"/>
              </a:spcBef>
              <a:spcAft>
                <a:spcPts val="0"/>
              </a:spcAft>
            </a:pPr>
            <a:r>
              <a:rPr sz="1700" b="0" lang="vi-VN">
                <a:solidFill>
                  <a:srgbClr val="596A77"/>
                </a:solidFill>
                <a:latin typeface="Arial"/>
              </a:rPr>
              <a:t>9/15 phản hồi</a:t>
            </a:r>
          </a:p>
        </p:txBody>
      </p:sp>
      <p:sp>
        <p:nvSpPr>
          <p:cNvPr id="16" name="Rounded Rectangle 15"/>
          <p:cNvSpPr/>
          <p:nvPr/>
        </p:nvSpPr>
        <p:spPr>
          <a:xfrm>
            <a:off x="6428232" y="3685032"/>
            <a:ext cx="5166360" cy="1426464"/>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647688" y="3922776"/>
            <a:ext cx="1572768" cy="758952"/>
          </a:xfrm>
          <a:prstGeom prst="rect">
            <a:avLst/>
          </a:prstGeom>
          <a:noFill/>
          <a:effectLst/>
        </p:spPr>
        <p:txBody>
          <a:bodyPr wrap="square" lIns="0" rIns="0" tIns="0" bIns="0" anchor="t">
            <a:spAutoFit/>
          </a:bodyPr>
          <a:lstStyle/>
          <a:p>
            <a:pPr algn="l">
              <a:lnSpc>
                <a:spcPct val="113000"/>
              </a:lnSpc>
              <a:spcBef>
                <a:spcPts val="0"/>
              </a:spcBef>
              <a:spcAft>
                <a:spcPts val="0"/>
              </a:spcAft>
            </a:pPr>
            <a:r>
              <a:rPr sz="4400" b="1" lang="vi-VN">
                <a:solidFill>
                  <a:srgbClr val="C18A2C"/>
                </a:solidFill>
                <a:latin typeface="Arial"/>
              </a:rPr>
              <a:t>20%</a:t>
            </a:r>
          </a:p>
        </p:txBody>
      </p:sp>
      <p:sp>
        <p:nvSpPr>
          <p:cNvPr id="18" name="TextBox 17"/>
          <p:cNvSpPr txBox="1"/>
          <p:nvPr/>
        </p:nvSpPr>
        <p:spPr>
          <a:xfrm>
            <a:off x="8394192" y="3941064"/>
            <a:ext cx="2880360" cy="411480"/>
          </a:xfrm>
          <a:prstGeom prst="rect">
            <a:avLst/>
          </a:prstGeom>
          <a:noFill/>
          <a:effectLst/>
        </p:spPr>
        <p:txBody>
          <a:bodyPr wrap="square" lIns="0" rIns="0" tIns="0" bIns="0" anchor="t">
            <a:spAutoFit/>
          </a:bodyPr>
          <a:lstStyle/>
          <a:p>
            <a:pPr algn="l">
              <a:lnSpc>
                <a:spcPct val="113000"/>
              </a:lnSpc>
              <a:spcBef>
                <a:spcPts val="0"/>
              </a:spcBef>
              <a:spcAft>
                <a:spcPts val="0"/>
              </a:spcAft>
            </a:pPr>
            <a:r>
              <a:rPr sz="2300" b="1" lang="vi-VN">
                <a:solidFill>
                  <a:srgbClr val="192A39"/>
                </a:solidFill>
                <a:latin typeface="Arial"/>
              </a:rPr>
              <a:t>Trên 1 giờ</a:t>
            </a:r>
          </a:p>
        </p:txBody>
      </p:sp>
      <p:sp>
        <p:nvSpPr>
          <p:cNvPr id="19" name="TextBox 18"/>
          <p:cNvSpPr txBox="1"/>
          <p:nvPr/>
        </p:nvSpPr>
        <p:spPr>
          <a:xfrm>
            <a:off x="8394192" y="4507992"/>
            <a:ext cx="2834640" cy="320040"/>
          </a:xfrm>
          <a:prstGeom prst="rect">
            <a:avLst/>
          </a:prstGeom>
          <a:noFill/>
          <a:effectLst/>
        </p:spPr>
        <p:txBody>
          <a:bodyPr wrap="square" lIns="0" rIns="0" tIns="0" bIns="0" anchor="t">
            <a:spAutoFit/>
          </a:bodyPr>
          <a:lstStyle/>
          <a:p>
            <a:pPr algn="l">
              <a:lnSpc>
                <a:spcPct val="113000"/>
              </a:lnSpc>
              <a:spcBef>
                <a:spcPts val="0"/>
              </a:spcBef>
              <a:spcAft>
                <a:spcPts val="0"/>
              </a:spcAft>
            </a:pPr>
            <a:r>
              <a:rPr sz="1700" b="0" lang="vi-VN">
                <a:solidFill>
                  <a:srgbClr val="596A77"/>
                </a:solidFill>
                <a:latin typeface="Arial"/>
              </a:rPr>
              <a:t>3/15 phản hồi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B52033"/>
                </a:solidFill>
                <a:latin typeface="Arial"/>
              </a:rPr>
              <a:t>02  /  BẰNG CHỨNG KHẢO SÁT</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Lỗi bắt đầu từ những thao tác rất quen.</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DOCLINT  /  BÁO CÁO CUỐI KỲ</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04 / 13</a:t>
            </a:r>
          </a:p>
        </p:txBody>
      </p:sp>
      <p:sp>
        <p:nvSpPr>
          <p:cNvPr id="7" name="TextBox 6"/>
          <p:cNvSpPr txBox="1"/>
          <p:nvPr/>
        </p:nvSpPr>
        <p:spPr>
          <a:xfrm>
            <a:off x="548640" y="5989320"/>
            <a:ext cx="11109960" cy="274320"/>
          </a:xfrm>
          <a:prstGeom prst="rect">
            <a:avLst/>
          </a:prstGeom>
          <a:noFill/>
          <a:effectLst/>
        </p:spPr>
        <p:txBody>
          <a:bodyPr wrap="square" lIns="0" rIns="0" tIns="0" bIns="0" anchor="t">
            <a:spAutoFit/>
          </a:bodyPr>
          <a:lstStyle/>
          <a:p>
            <a:pPr algn="l">
              <a:lnSpc>
                <a:spcPct val="100000"/>
              </a:lnSpc>
              <a:spcBef>
                <a:spcPts val="0"/>
              </a:spcBef>
              <a:spcAft>
                <a:spcPts val="0"/>
              </a:spcAft>
            </a:pPr>
            <a:r>
              <a:rPr sz="930" b="0" lang="vi-VN">
                <a:solidFill>
                  <a:srgbClr val="596A77"/>
                </a:solidFill>
                <a:latin typeface="Arial"/>
              </a:rPr>
              <a:t>Nguồn: phần thuyết minh slide tuần 4, slide 5–6; n = 15. Các nhóm lỗi có thể trùng nhau; không cộng tỷ lệ.</a:t>
            </a:r>
          </a:p>
        </p:txBody>
      </p:sp>
      <p:sp>
        <p:nvSpPr>
          <p:cNvPr id="8" name="Rectangle 7"/>
          <p:cNvSpPr/>
          <p:nvPr/>
        </p:nvSpPr>
        <p:spPr>
          <a:xfrm>
            <a:off x="0" y="6821424"/>
            <a:ext cx="3751384" cy="36576"/>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94360" y="2157984"/>
            <a:ext cx="3886200" cy="384048"/>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192A39"/>
                </a:solidFill>
                <a:latin typeface="Arial"/>
              </a:rPr>
              <a:t>Lề đóng gáy</a:t>
            </a:r>
          </a:p>
        </p:txBody>
      </p:sp>
      <p:sp>
        <p:nvSpPr>
          <p:cNvPr id="10" name="Rectangle 9"/>
          <p:cNvSpPr/>
          <p:nvPr/>
        </p:nvSpPr>
        <p:spPr>
          <a:xfrm>
            <a:off x="4754880" y="2148840"/>
            <a:ext cx="5074920" cy="338328"/>
          </a:xfrm>
          <a:prstGeom prst="rect">
            <a:avLst/>
          </a:prstGeom>
          <a:solidFill>
            <a:srgbClr val="E9ED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754880" y="2148840"/>
            <a:ext cx="5074920" cy="338328"/>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067544" y="2066543"/>
            <a:ext cx="941832" cy="438912"/>
          </a:xfrm>
          <a:prstGeom prst="rect">
            <a:avLst/>
          </a:prstGeom>
          <a:noFill/>
          <a:effectLst/>
        </p:spPr>
        <p:txBody>
          <a:bodyPr wrap="square" lIns="0" rIns="0" tIns="0" bIns="0" anchor="t">
            <a:spAutoFit/>
          </a:bodyPr>
          <a:lstStyle/>
          <a:p>
            <a:pPr algn="l">
              <a:lnSpc>
                <a:spcPct val="113000"/>
              </a:lnSpc>
              <a:spcBef>
                <a:spcPts val="0"/>
              </a:spcBef>
              <a:spcAft>
                <a:spcPts val="0"/>
              </a:spcAft>
            </a:pPr>
            <a:r>
              <a:rPr sz="2600" b="1" lang="vi-VN">
                <a:solidFill>
                  <a:srgbClr val="B52033"/>
                </a:solidFill>
                <a:latin typeface="Arial"/>
              </a:rPr>
              <a:t>40%</a:t>
            </a:r>
          </a:p>
        </p:txBody>
      </p:sp>
      <p:sp>
        <p:nvSpPr>
          <p:cNvPr id="13" name="TextBox 12"/>
          <p:cNvSpPr txBox="1"/>
          <p:nvPr/>
        </p:nvSpPr>
        <p:spPr>
          <a:xfrm>
            <a:off x="11045952" y="2185416"/>
            <a:ext cx="594360" cy="265176"/>
          </a:xfrm>
          <a:prstGeom prst="rect">
            <a:avLst/>
          </a:prstGeom>
          <a:noFill/>
          <a:effectLst/>
        </p:spPr>
        <p:txBody>
          <a:bodyPr wrap="square" lIns="0" rIns="0" tIns="0" bIns="0" anchor="t">
            <a:spAutoFit/>
          </a:bodyPr>
          <a:lstStyle/>
          <a:p>
            <a:pPr algn="l">
              <a:lnSpc>
                <a:spcPct val="113000"/>
              </a:lnSpc>
              <a:spcBef>
                <a:spcPts val="0"/>
              </a:spcBef>
              <a:spcAft>
                <a:spcPts val="0"/>
              </a:spcAft>
            </a:pPr>
            <a:r>
              <a:rPr sz="1300" b="0" lang="vi-VN">
                <a:solidFill>
                  <a:srgbClr val="596A77"/>
                </a:solidFill>
                <a:latin typeface="Arial"/>
              </a:rPr>
              <a:t>6/15</a:t>
            </a:r>
          </a:p>
        </p:txBody>
      </p:sp>
      <p:sp>
        <p:nvSpPr>
          <p:cNvPr id="14" name="TextBox 13"/>
          <p:cNvSpPr txBox="1"/>
          <p:nvPr/>
        </p:nvSpPr>
        <p:spPr>
          <a:xfrm>
            <a:off x="594360" y="3008376"/>
            <a:ext cx="3886200" cy="384048"/>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192A39"/>
                </a:solidFill>
                <a:latin typeface="Arial"/>
              </a:rPr>
              <a:t>Phông chữ lộn xộn</a:t>
            </a:r>
          </a:p>
        </p:txBody>
      </p:sp>
      <p:sp>
        <p:nvSpPr>
          <p:cNvPr id="15" name="Rectangle 14"/>
          <p:cNvSpPr/>
          <p:nvPr/>
        </p:nvSpPr>
        <p:spPr>
          <a:xfrm>
            <a:off x="4754880" y="2999232"/>
            <a:ext cx="5074920" cy="338328"/>
          </a:xfrm>
          <a:prstGeom prst="rect">
            <a:avLst/>
          </a:prstGeom>
          <a:solidFill>
            <a:srgbClr val="E9ED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4754880" y="2999232"/>
            <a:ext cx="5074920" cy="338328"/>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067544" y="2916936"/>
            <a:ext cx="941832" cy="438912"/>
          </a:xfrm>
          <a:prstGeom prst="rect">
            <a:avLst/>
          </a:prstGeom>
          <a:noFill/>
          <a:effectLst/>
        </p:spPr>
        <p:txBody>
          <a:bodyPr wrap="square" lIns="0" rIns="0" tIns="0" bIns="0" anchor="t">
            <a:spAutoFit/>
          </a:bodyPr>
          <a:lstStyle/>
          <a:p>
            <a:pPr algn="l">
              <a:lnSpc>
                <a:spcPct val="113000"/>
              </a:lnSpc>
              <a:spcBef>
                <a:spcPts val="0"/>
              </a:spcBef>
              <a:spcAft>
                <a:spcPts val="0"/>
              </a:spcAft>
            </a:pPr>
            <a:r>
              <a:rPr sz="2600" b="1" lang="vi-VN">
                <a:solidFill>
                  <a:srgbClr val="B52033"/>
                </a:solidFill>
                <a:latin typeface="Arial"/>
              </a:rPr>
              <a:t>40%</a:t>
            </a:r>
          </a:p>
        </p:txBody>
      </p:sp>
      <p:sp>
        <p:nvSpPr>
          <p:cNvPr id="18" name="TextBox 17"/>
          <p:cNvSpPr txBox="1"/>
          <p:nvPr/>
        </p:nvSpPr>
        <p:spPr>
          <a:xfrm>
            <a:off x="11045952" y="3035808"/>
            <a:ext cx="594360" cy="265176"/>
          </a:xfrm>
          <a:prstGeom prst="rect">
            <a:avLst/>
          </a:prstGeom>
          <a:noFill/>
          <a:effectLst/>
        </p:spPr>
        <p:txBody>
          <a:bodyPr wrap="square" lIns="0" rIns="0" tIns="0" bIns="0" anchor="t">
            <a:spAutoFit/>
          </a:bodyPr>
          <a:lstStyle/>
          <a:p>
            <a:pPr algn="l">
              <a:lnSpc>
                <a:spcPct val="113000"/>
              </a:lnSpc>
              <a:spcBef>
                <a:spcPts val="0"/>
              </a:spcBef>
              <a:spcAft>
                <a:spcPts val="0"/>
              </a:spcAft>
            </a:pPr>
            <a:r>
              <a:rPr sz="1300" b="0" lang="vi-VN">
                <a:solidFill>
                  <a:srgbClr val="596A77"/>
                </a:solidFill>
                <a:latin typeface="Arial"/>
              </a:rPr>
              <a:t>6/15</a:t>
            </a:r>
          </a:p>
        </p:txBody>
      </p:sp>
      <p:sp>
        <p:nvSpPr>
          <p:cNvPr id="19" name="TextBox 18"/>
          <p:cNvSpPr txBox="1"/>
          <p:nvPr/>
        </p:nvSpPr>
        <p:spPr>
          <a:xfrm>
            <a:off x="594360" y="3858768"/>
            <a:ext cx="3886200" cy="384048"/>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192A39"/>
                </a:solidFill>
                <a:latin typeface="Arial"/>
              </a:rPr>
              <a:t>Đề mục / mục lục</a:t>
            </a:r>
          </a:p>
        </p:txBody>
      </p:sp>
      <p:sp>
        <p:nvSpPr>
          <p:cNvPr id="20" name="Rectangle 19"/>
          <p:cNvSpPr/>
          <p:nvPr/>
        </p:nvSpPr>
        <p:spPr>
          <a:xfrm>
            <a:off x="4754880" y="3849624"/>
            <a:ext cx="5074920" cy="338328"/>
          </a:xfrm>
          <a:prstGeom prst="rect">
            <a:avLst/>
          </a:prstGeom>
          <a:solidFill>
            <a:srgbClr val="E9ED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4754880" y="3849624"/>
            <a:ext cx="5074920" cy="338328"/>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10067544" y="3767328"/>
            <a:ext cx="941832" cy="438912"/>
          </a:xfrm>
          <a:prstGeom prst="rect">
            <a:avLst/>
          </a:prstGeom>
          <a:noFill/>
          <a:effectLst/>
        </p:spPr>
        <p:txBody>
          <a:bodyPr wrap="square" lIns="0" rIns="0" tIns="0" bIns="0" anchor="t">
            <a:spAutoFit/>
          </a:bodyPr>
          <a:lstStyle/>
          <a:p>
            <a:pPr algn="l">
              <a:lnSpc>
                <a:spcPct val="113000"/>
              </a:lnSpc>
              <a:spcBef>
                <a:spcPts val="0"/>
              </a:spcBef>
              <a:spcAft>
                <a:spcPts val="0"/>
              </a:spcAft>
            </a:pPr>
            <a:r>
              <a:rPr sz="2600" b="1" lang="vi-VN">
                <a:solidFill>
                  <a:srgbClr val="B52033"/>
                </a:solidFill>
                <a:latin typeface="Arial"/>
              </a:rPr>
              <a:t>40%</a:t>
            </a:r>
          </a:p>
        </p:txBody>
      </p:sp>
      <p:sp>
        <p:nvSpPr>
          <p:cNvPr id="23" name="TextBox 22"/>
          <p:cNvSpPr txBox="1"/>
          <p:nvPr/>
        </p:nvSpPr>
        <p:spPr>
          <a:xfrm>
            <a:off x="11045952" y="3886200"/>
            <a:ext cx="594360" cy="265176"/>
          </a:xfrm>
          <a:prstGeom prst="rect">
            <a:avLst/>
          </a:prstGeom>
          <a:noFill/>
          <a:effectLst/>
        </p:spPr>
        <p:txBody>
          <a:bodyPr wrap="square" lIns="0" rIns="0" tIns="0" bIns="0" anchor="t">
            <a:spAutoFit/>
          </a:bodyPr>
          <a:lstStyle/>
          <a:p>
            <a:pPr algn="l">
              <a:lnSpc>
                <a:spcPct val="113000"/>
              </a:lnSpc>
              <a:spcBef>
                <a:spcPts val="0"/>
              </a:spcBef>
              <a:spcAft>
                <a:spcPts val="0"/>
              </a:spcAft>
            </a:pPr>
            <a:r>
              <a:rPr sz="1300" b="0" lang="vi-VN">
                <a:solidFill>
                  <a:srgbClr val="596A77"/>
                </a:solidFill>
                <a:latin typeface="Arial"/>
              </a:rPr>
              <a:t>6/15</a:t>
            </a:r>
          </a:p>
        </p:txBody>
      </p:sp>
      <p:sp>
        <p:nvSpPr>
          <p:cNvPr id="24" name="TextBox 23"/>
          <p:cNvSpPr txBox="1"/>
          <p:nvPr/>
        </p:nvSpPr>
        <p:spPr>
          <a:xfrm>
            <a:off x="594360" y="4709160"/>
            <a:ext cx="3886200" cy="384048"/>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0" lang="vi-VN">
                <a:solidFill>
                  <a:srgbClr val="192A39"/>
                </a:solidFill>
                <a:latin typeface="Arial"/>
              </a:rPr>
              <a:t>Vỡ bảng, hình khi chia cột</a:t>
            </a:r>
          </a:p>
        </p:txBody>
      </p:sp>
      <p:sp>
        <p:nvSpPr>
          <p:cNvPr id="25" name="Rectangle 24"/>
          <p:cNvSpPr/>
          <p:nvPr/>
        </p:nvSpPr>
        <p:spPr>
          <a:xfrm>
            <a:off x="4754880" y="4700016"/>
            <a:ext cx="5074920" cy="338328"/>
          </a:xfrm>
          <a:prstGeom prst="rect">
            <a:avLst/>
          </a:prstGeom>
          <a:solidFill>
            <a:srgbClr val="E9ED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4754880" y="4700016"/>
            <a:ext cx="2537460" cy="338328"/>
          </a:xfrm>
          <a:prstGeom prst="rect">
            <a:avLst/>
          </a:prstGeom>
          <a:solidFill>
            <a:srgbClr val="C18A2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10067544" y="4617720"/>
            <a:ext cx="941832" cy="438912"/>
          </a:xfrm>
          <a:prstGeom prst="rect">
            <a:avLst/>
          </a:prstGeom>
          <a:noFill/>
          <a:effectLst/>
        </p:spPr>
        <p:txBody>
          <a:bodyPr wrap="square" lIns="0" rIns="0" tIns="0" bIns="0" anchor="t">
            <a:spAutoFit/>
          </a:bodyPr>
          <a:lstStyle/>
          <a:p>
            <a:pPr algn="l">
              <a:lnSpc>
                <a:spcPct val="113000"/>
              </a:lnSpc>
              <a:spcBef>
                <a:spcPts val="0"/>
              </a:spcBef>
              <a:spcAft>
                <a:spcPts val="0"/>
              </a:spcAft>
            </a:pPr>
            <a:r>
              <a:rPr sz="2600" b="1" lang="vi-VN">
                <a:solidFill>
                  <a:srgbClr val="C18A2C"/>
                </a:solidFill>
                <a:latin typeface="Arial"/>
              </a:rPr>
              <a:t>20%</a:t>
            </a:r>
          </a:p>
        </p:txBody>
      </p:sp>
      <p:sp>
        <p:nvSpPr>
          <p:cNvPr id="28" name="TextBox 27"/>
          <p:cNvSpPr txBox="1"/>
          <p:nvPr/>
        </p:nvSpPr>
        <p:spPr>
          <a:xfrm>
            <a:off x="11045952" y="4736592"/>
            <a:ext cx="594360" cy="265176"/>
          </a:xfrm>
          <a:prstGeom prst="rect">
            <a:avLst/>
          </a:prstGeom>
          <a:noFill/>
          <a:effectLst/>
        </p:spPr>
        <p:txBody>
          <a:bodyPr wrap="square" lIns="0" rIns="0" tIns="0" bIns="0" anchor="t">
            <a:spAutoFit/>
          </a:bodyPr>
          <a:lstStyle/>
          <a:p>
            <a:pPr algn="l">
              <a:lnSpc>
                <a:spcPct val="113000"/>
              </a:lnSpc>
              <a:spcBef>
                <a:spcPts val="0"/>
              </a:spcBef>
              <a:spcAft>
                <a:spcPts val="0"/>
              </a:spcAft>
            </a:pPr>
            <a:r>
              <a:rPr sz="1300" b="0" lang="vi-VN">
                <a:solidFill>
                  <a:srgbClr val="596A77"/>
                </a:solidFill>
                <a:latin typeface="Arial"/>
              </a:rPr>
              <a:t>3/15</a:t>
            </a:r>
          </a:p>
        </p:txBody>
      </p:sp>
      <p:sp>
        <p:nvSpPr>
          <p:cNvPr id="29" name="Rounded Rectangle 28"/>
          <p:cNvSpPr/>
          <p:nvPr/>
        </p:nvSpPr>
        <p:spPr>
          <a:xfrm>
            <a:off x="594360" y="5522976"/>
            <a:ext cx="5779008" cy="310896"/>
          </a:xfrm>
          <a:prstGeom prst="roundRect">
            <a:avLst>
              <a:gd name="adj" fmla="val 8000"/>
            </a:avLst>
          </a:prstGeom>
          <a:solidFill>
            <a:srgbClr val="F9E7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676656" y="5582412"/>
            <a:ext cx="5614416" cy="219456"/>
          </a:xfrm>
          <a:prstGeom prst="rect">
            <a:avLst/>
          </a:prstGeom>
          <a:noFill/>
          <a:effectLst/>
        </p:spPr>
        <p:txBody>
          <a:bodyPr wrap="square" lIns="0" rIns="0" tIns="0" bIns="0" anchor="t">
            <a:spAutoFit/>
          </a:bodyPr>
          <a:lstStyle/>
          <a:p>
            <a:pPr algn="l">
              <a:lnSpc>
                <a:spcPct val="113000"/>
              </a:lnSpc>
              <a:spcBef>
                <a:spcPts val="0"/>
              </a:spcBef>
              <a:spcAft>
                <a:spcPts val="0"/>
              </a:spcAft>
            </a:pPr>
            <a:r>
              <a:rPr sz="1200" b="1" lang="vi-VN">
                <a:solidFill>
                  <a:srgbClr val="B52033"/>
                </a:solidFill>
                <a:latin typeface="Arial"/>
              </a:rPr>
              <a:t>ƯU TIÊN: NHẤT QUÁN + CẤU TRÚC + AN TOÀN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B52033"/>
                </a:solidFill>
                <a:latin typeface="Arial"/>
              </a:rPr>
              <a:t>03  /  MỤC TIÊU SẢN PHẨM</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Dàn trang tự động, tác giả vẫn quyết định.</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DOCLINT  /  BÁO CÁO CUỐI KỲ</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05 / 13</a:t>
            </a:r>
          </a:p>
        </p:txBody>
      </p:sp>
      <p:sp>
        <p:nvSpPr>
          <p:cNvPr id="7" name="Rectangle 6"/>
          <p:cNvSpPr/>
          <p:nvPr/>
        </p:nvSpPr>
        <p:spPr>
          <a:xfrm>
            <a:off x="0" y="6821424"/>
            <a:ext cx="4689230" cy="36576"/>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530352" y="2057400"/>
            <a:ext cx="6931152" cy="3438144"/>
          </a:xfrm>
          <a:prstGeom prst="roundRect">
            <a:avLst>
              <a:gd name="adj" fmla="val 8000"/>
            </a:avLst>
          </a:prstGeom>
          <a:solidFill>
            <a:srgbClr val="142A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50392" y="2468880"/>
            <a:ext cx="6309360" cy="594360"/>
          </a:xfrm>
          <a:prstGeom prst="rect">
            <a:avLst/>
          </a:prstGeom>
          <a:noFill/>
          <a:effectLst/>
        </p:spPr>
        <p:txBody>
          <a:bodyPr wrap="square" lIns="0" rIns="0" tIns="0" bIns="0" anchor="t">
            <a:spAutoFit/>
          </a:bodyPr>
          <a:lstStyle/>
          <a:p>
            <a:pPr algn="l">
              <a:lnSpc>
                <a:spcPct val="113000"/>
              </a:lnSpc>
              <a:spcBef>
                <a:spcPts val="0"/>
              </a:spcBef>
              <a:spcAft>
                <a:spcPts val="0"/>
              </a:spcAft>
            </a:pPr>
            <a:r>
              <a:rPr sz="3400" b="1" lang="vi-VN">
                <a:solidFill>
                  <a:srgbClr val="FFFFFF"/>
                </a:solidFill>
                <a:latin typeface="Arial"/>
              </a:rPr>
              <a:t>Bố cục nhất quán hơn.</a:t>
            </a:r>
          </a:p>
        </p:txBody>
      </p:sp>
      <p:sp>
        <p:nvSpPr>
          <p:cNvPr id="10" name="TextBox 9"/>
          <p:cNvSpPr txBox="1"/>
          <p:nvPr/>
        </p:nvSpPr>
        <p:spPr>
          <a:xfrm>
            <a:off x="850392" y="3374136"/>
            <a:ext cx="6309360" cy="1152144"/>
          </a:xfrm>
          <a:prstGeom prst="rect">
            <a:avLst/>
          </a:prstGeom>
          <a:noFill/>
          <a:effectLst/>
        </p:spPr>
        <p:txBody>
          <a:bodyPr wrap="square" lIns="0" rIns="0" tIns="0" bIns="0" anchor="t">
            <a:spAutoFit/>
          </a:bodyPr>
          <a:lstStyle/>
          <a:p>
            <a:pPr algn="l">
              <a:lnSpc>
                <a:spcPct val="113000"/>
              </a:lnSpc>
              <a:spcBef>
                <a:spcPts val="0"/>
              </a:spcBef>
              <a:spcAft>
                <a:spcPts val="0"/>
              </a:spcAft>
            </a:pPr>
            <a:r>
              <a:rPr sz="3100" b="1" lang="vi-VN">
                <a:solidFill>
                  <a:srgbClr val="FFFFFF"/>
                </a:solidFill>
                <a:latin typeface="Arial"/>
              </a:rPr>
              <a:t>Nội dung chuyên môn</a:t>
            </a:r>
          </a:p>
          <a:p>
            <a:pPr algn="l">
              <a:lnSpc>
                <a:spcPct val="113000"/>
              </a:lnSpc>
              <a:spcBef>
                <a:spcPts val="0"/>
              </a:spcBef>
              <a:spcAft>
                <a:spcPts val="0"/>
              </a:spcAft>
            </a:pPr>
            <a:r>
              <a:rPr sz="3100" b="1" lang="vi-VN">
                <a:solidFill>
                  <a:srgbClr val="FFFFFF"/>
                </a:solidFill>
                <a:latin typeface="Arial"/>
              </a:rPr>
              <a:t>thuộc về tác giả.</a:t>
            </a:r>
          </a:p>
        </p:txBody>
      </p:sp>
      <p:sp>
        <p:nvSpPr>
          <p:cNvPr id="11" name="Rounded Rectangle 10"/>
          <p:cNvSpPr/>
          <p:nvPr/>
        </p:nvSpPr>
        <p:spPr>
          <a:xfrm>
            <a:off x="859536" y="4882896"/>
            <a:ext cx="4389120" cy="310896"/>
          </a:xfrm>
          <a:prstGeom prst="roundRect">
            <a:avLst>
              <a:gd name="adj" fmla="val 8000"/>
            </a:avLst>
          </a:prstGeom>
          <a:solidFill>
            <a:srgbClr val="E4F1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941832" y="4942332"/>
            <a:ext cx="4224528" cy="219456"/>
          </a:xfrm>
          <a:prstGeom prst="rect">
            <a:avLst/>
          </a:prstGeom>
          <a:noFill/>
          <a:effectLst/>
        </p:spPr>
        <p:txBody>
          <a:bodyPr wrap="square" lIns="0" rIns="0" tIns="0" bIns="0" anchor="t">
            <a:spAutoFit/>
          </a:bodyPr>
          <a:lstStyle/>
          <a:p>
            <a:pPr algn="l">
              <a:lnSpc>
                <a:spcPct val="113000"/>
              </a:lnSpc>
              <a:spcBef>
                <a:spcPts val="0"/>
              </a:spcBef>
              <a:spcAft>
                <a:spcPts val="0"/>
              </a:spcAft>
            </a:pPr>
            <a:r>
              <a:rPr sz="1300" b="1" lang="vi-VN">
                <a:solidFill>
                  <a:srgbClr val="0B796B"/>
                </a:solidFill>
                <a:latin typeface="Arial"/>
              </a:rPr>
              <a:t>V1 KHÔNG CẦN API AI TRẢ PHÍ</a:t>
            </a:r>
          </a:p>
        </p:txBody>
      </p:sp>
      <p:sp>
        <p:nvSpPr>
          <p:cNvPr id="13" name="Oval 12"/>
          <p:cNvSpPr/>
          <p:nvPr/>
        </p:nvSpPr>
        <p:spPr>
          <a:xfrm>
            <a:off x="7909560" y="2304288"/>
            <a:ext cx="146304" cy="146304"/>
          </a:xfrm>
          <a:prstGeom prst="ellipse">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257031" y="2240280"/>
            <a:ext cx="3300984"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192A39"/>
                </a:solidFill>
                <a:latin typeface="Arial"/>
              </a:rPr>
              <a:t>Chuẩn hóa hình thức</a:t>
            </a:r>
          </a:p>
        </p:txBody>
      </p:sp>
      <p:sp>
        <p:nvSpPr>
          <p:cNvPr id="15" name="TextBox 14"/>
          <p:cNvSpPr txBox="1"/>
          <p:nvPr/>
        </p:nvSpPr>
        <p:spPr>
          <a:xfrm>
            <a:off x="8257031" y="2743200"/>
            <a:ext cx="3300984" cy="594360"/>
          </a:xfrm>
          <a:prstGeom prst="rect">
            <a:avLst/>
          </a:prstGeom>
          <a:noFill/>
          <a:effectLst/>
        </p:spPr>
        <p:txBody>
          <a:bodyPr wrap="square" lIns="0" rIns="0" tIns="0" bIns="0" anchor="t">
            <a:spAutoFit/>
          </a:bodyPr>
          <a:lstStyle/>
          <a:p>
            <a:pPr algn="l">
              <a:lnSpc>
                <a:spcPct val="113000"/>
              </a:lnSpc>
              <a:spcBef>
                <a:spcPts val="0"/>
              </a:spcBef>
              <a:spcAft>
                <a:spcPts val="0"/>
              </a:spcAft>
            </a:pPr>
            <a:r>
              <a:rPr sz="1700" b="0" lang="vi-VN">
                <a:solidFill>
                  <a:srgbClr val="596A77"/>
                </a:solidFill>
                <a:latin typeface="Arial"/>
              </a:rPr>
              <a:t>Theo mẫu và vai trò của từng khối.</a:t>
            </a:r>
          </a:p>
        </p:txBody>
      </p:sp>
      <p:sp>
        <p:nvSpPr>
          <p:cNvPr id="16" name="Oval 15"/>
          <p:cNvSpPr/>
          <p:nvPr/>
        </p:nvSpPr>
        <p:spPr>
          <a:xfrm>
            <a:off x="7909560" y="3493008"/>
            <a:ext cx="146304" cy="146304"/>
          </a:xfrm>
          <a:prstGeom prst="ellipse">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257031" y="3429000"/>
            <a:ext cx="3300984"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192A39"/>
                </a:solidFill>
                <a:latin typeface="Arial"/>
              </a:rPr>
              <a:t>Giữ quyền lựa chọn</a:t>
            </a:r>
          </a:p>
        </p:txBody>
      </p:sp>
      <p:sp>
        <p:nvSpPr>
          <p:cNvPr id="18" name="TextBox 17"/>
          <p:cNvSpPr txBox="1"/>
          <p:nvPr/>
        </p:nvSpPr>
        <p:spPr>
          <a:xfrm>
            <a:off x="8257031" y="3931920"/>
            <a:ext cx="3300984" cy="594360"/>
          </a:xfrm>
          <a:prstGeom prst="rect">
            <a:avLst/>
          </a:prstGeom>
          <a:noFill/>
          <a:effectLst/>
        </p:spPr>
        <p:txBody>
          <a:bodyPr wrap="square" lIns="0" rIns="0" tIns="0" bIns="0" anchor="t">
            <a:spAutoFit/>
          </a:bodyPr>
          <a:lstStyle/>
          <a:p>
            <a:pPr algn="l">
              <a:lnSpc>
                <a:spcPct val="113000"/>
              </a:lnSpc>
              <a:spcBef>
                <a:spcPts val="0"/>
              </a:spcBef>
              <a:spcAft>
                <a:spcPts val="0"/>
              </a:spcAft>
            </a:pPr>
            <a:r>
              <a:rPr sz="1700" b="0" lang="vi-VN">
                <a:solidFill>
                  <a:srgbClr val="596A77"/>
                </a:solidFill>
                <a:latin typeface="Arial"/>
              </a:rPr>
              <a:t>Xác nhận khi chưa đủ chắc chắn.</a:t>
            </a:r>
          </a:p>
        </p:txBody>
      </p:sp>
      <p:sp>
        <p:nvSpPr>
          <p:cNvPr id="19" name="Oval 18"/>
          <p:cNvSpPr/>
          <p:nvPr/>
        </p:nvSpPr>
        <p:spPr>
          <a:xfrm>
            <a:off x="7909560" y="4681728"/>
            <a:ext cx="146304" cy="146304"/>
          </a:xfrm>
          <a:prstGeom prst="ellipse">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257031" y="4617720"/>
            <a:ext cx="3300984"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192A39"/>
                </a:solidFill>
                <a:latin typeface="Arial"/>
              </a:rPr>
              <a:t>Cho phép kiểm tra</a:t>
            </a:r>
          </a:p>
        </p:txBody>
      </p:sp>
      <p:sp>
        <p:nvSpPr>
          <p:cNvPr id="21" name="TextBox 20"/>
          <p:cNvSpPr txBox="1"/>
          <p:nvPr/>
        </p:nvSpPr>
        <p:spPr>
          <a:xfrm>
            <a:off x="8257031" y="5120640"/>
            <a:ext cx="3300984" cy="594360"/>
          </a:xfrm>
          <a:prstGeom prst="rect">
            <a:avLst/>
          </a:prstGeom>
          <a:noFill/>
          <a:effectLst/>
        </p:spPr>
        <p:txBody>
          <a:bodyPr wrap="square" lIns="0" rIns="0" tIns="0" bIns="0" anchor="t">
            <a:spAutoFit/>
          </a:bodyPr>
          <a:lstStyle/>
          <a:p>
            <a:pPr algn="l">
              <a:lnSpc>
                <a:spcPct val="113000"/>
              </a:lnSpc>
              <a:spcBef>
                <a:spcPts val="0"/>
              </a:spcBef>
              <a:spcAft>
                <a:spcPts val="0"/>
              </a:spcAft>
            </a:pPr>
            <a:r>
              <a:rPr sz="1700" b="0" lang="vi-VN">
                <a:solidFill>
                  <a:srgbClr val="596A77"/>
                </a:solidFill>
                <a:latin typeface="Arial"/>
              </a:rPr>
              <a:t>Xem trước, cảnh báo, nhật ký riêng.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B52033"/>
                </a:solidFill>
                <a:latin typeface="Arial"/>
              </a:rPr>
              <a:t>04  /  PHƯƠNG HƯỚNG GIẢI QUYẾT</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Không xử lý mọi phần theo một cách.</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DOCLINT  /  BÁO CÁO CUỐI KỲ</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06 / 13</a:t>
            </a:r>
          </a:p>
        </p:txBody>
      </p:sp>
      <p:sp>
        <p:nvSpPr>
          <p:cNvPr id="7" name="Rectangle 6"/>
          <p:cNvSpPr/>
          <p:nvPr/>
        </p:nvSpPr>
        <p:spPr>
          <a:xfrm>
            <a:off x="0" y="6821424"/>
            <a:ext cx="5627076" cy="36576"/>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530352" y="2139696"/>
            <a:ext cx="3611880" cy="3246120"/>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530352" y="2139696"/>
            <a:ext cx="3611880" cy="658368"/>
          </a:xfrm>
          <a:prstGeom prst="roundRect">
            <a:avLst>
              <a:gd name="adj" fmla="val 8000"/>
            </a:avLst>
          </a:prstGeom>
          <a:solidFill>
            <a:srgbClr val="E4F1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22375" y="2331720"/>
            <a:ext cx="320040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300" b="1" lang="vi-VN">
                <a:solidFill>
                  <a:srgbClr val="0B796B"/>
                </a:solidFill>
                <a:latin typeface="Arial"/>
              </a:rPr>
              <a:t>TỰ SỬA</a:t>
            </a:r>
          </a:p>
        </p:txBody>
      </p:sp>
      <p:sp>
        <p:nvSpPr>
          <p:cNvPr id="11" name="TextBox 10"/>
          <p:cNvSpPr txBox="1"/>
          <p:nvPr/>
        </p:nvSpPr>
        <p:spPr>
          <a:xfrm>
            <a:off x="740664" y="3072384"/>
            <a:ext cx="3154680" cy="658368"/>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192A39"/>
                </a:solidFill>
                <a:latin typeface="Arial"/>
              </a:rPr>
              <a:t>Rõ vai trò, đủ điều kiện</a:t>
            </a:r>
          </a:p>
        </p:txBody>
      </p:sp>
      <p:sp>
        <p:nvSpPr>
          <p:cNvPr id="12" name="TextBox 11"/>
          <p:cNvSpPr txBox="1"/>
          <p:nvPr/>
        </p:nvSpPr>
        <p:spPr>
          <a:xfrm>
            <a:off x="740664" y="4069080"/>
            <a:ext cx="3154680" cy="914400"/>
          </a:xfrm>
          <a:prstGeom prst="rect">
            <a:avLst/>
          </a:prstGeom>
          <a:noFill/>
          <a:effectLst/>
        </p:spPr>
        <p:txBody>
          <a:bodyPr wrap="square" lIns="0" rIns="0" tIns="0" bIns="0" anchor="t">
            <a:spAutoFit/>
          </a:bodyPr>
          <a:lstStyle/>
          <a:p>
            <a:pPr algn="l">
              <a:lnSpc>
                <a:spcPct val="120000"/>
              </a:lnSpc>
              <a:spcBef>
                <a:spcPts val="0"/>
              </a:spcBef>
              <a:spcAft>
                <a:spcPts val="0"/>
              </a:spcAft>
            </a:pPr>
            <a:r>
              <a:rPr sz="1900" b="0" lang="vi-VN">
                <a:solidFill>
                  <a:srgbClr val="596A77"/>
                </a:solidFill>
                <a:latin typeface="Arial"/>
              </a:rPr>
              <a:t>Lề, khổ giấy, thân bài</a:t>
            </a:r>
          </a:p>
          <a:p>
            <a:pPr algn="l">
              <a:lnSpc>
                <a:spcPct val="120000"/>
              </a:lnSpc>
              <a:spcBef>
                <a:spcPts val="0"/>
              </a:spcBef>
              <a:spcAft>
                <a:spcPts val="0"/>
              </a:spcAft>
            </a:pPr>
            <a:r>
              <a:rPr sz="1900" b="0" lang="vi-VN">
                <a:solidFill>
                  <a:srgbClr val="596A77"/>
                </a:solidFill>
                <a:latin typeface="Arial"/>
              </a:rPr>
              <a:t>trong vùng có thể xử lý.</a:t>
            </a:r>
          </a:p>
        </p:txBody>
      </p:sp>
      <p:sp>
        <p:nvSpPr>
          <p:cNvPr id="13" name="Rounded Rectangle 12"/>
          <p:cNvSpPr/>
          <p:nvPr/>
        </p:nvSpPr>
        <p:spPr>
          <a:xfrm>
            <a:off x="4334256" y="2139696"/>
            <a:ext cx="3611880" cy="3246120"/>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4334256" y="2139696"/>
            <a:ext cx="3611880" cy="658368"/>
          </a:xfrm>
          <a:prstGeom prst="roundRect">
            <a:avLst>
              <a:gd name="adj" fmla="val 8000"/>
            </a:avLst>
          </a:prstGeom>
          <a:solidFill>
            <a:srgbClr val="FBF0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26280" y="2331720"/>
            <a:ext cx="320040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300" b="1" lang="vi-VN">
                <a:solidFill>
                  <a:srgbClr val="C18A2C"/>
                </a:solidFill>
                <a:latin typeface="Arial"/>
              </a:rPr>
              <a:t>XÁC NHẬN</a:t>
            </a:r>
          </a:p>
        </p:txBody>
      </p:sp>
      <p:sp>
        <p:nvSpPr>
          <p:cNvPr id="16" name="TextBox 15"/>
          <p:cNvSpPr txBox="1"/>
          <p:nvPr/>
        </p:nvSpPr>
        <p:spPr>
          <a:xfrm>
            <a:off x="4544568" y="3072384"/>
            <a:ext cx="3154680" cy="658368"/>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192A39"/>
                </a:solidFill>
                <a:latin typeface="Arial"/>
              </a:rPr>
              <a:t>Chưa đủ chắc chắn</a:t>
            </a:r>
          </a:p>
        </p:txBody>
      </p:sp>
      <p:sp>
        <p:nvSpPr>
          <p:cNvPr id="17" name="TextBox 16"/>
          <p:cNvSpPr txBox="1"/>
          <p:nvPr/>
        </p:nvSpPr>
        <p:spPr>
          <a:xfrm>
            <a:off x="4544568" y="4069080"/>
            <a:ext cx="3154680" cy="914400"/>
          </a:xfrm>
          <a:prstGeom prst="rect">
            <a:avLst/>
          </a:prstGeom>
          <a:noFill/>
          <a:effectLst/>
        </p:spPr>
        <p:txBody>
          <a:bodyPr wrap="square" lIns="0" rIns="0" tIns="0" bIns="0" anchor="t">
            <a:spAutoFit/>
          </a:bodyPr>
          <a:lstStyle/>
          <a:p>
            <a:pPr algn="l">
              <a:lnSpc>
                <a:spcPct val="120000"/>
              </a:lnSpc>
              <a:spcBef>
                <a:spcPts val="0"/>
              </a:spcBef>
              <a:spcAft>
                <a:spcPts val="0"/>
              </a:spcAft>
            </a:pPr>
            <a:r>
              <a:rPr sz="1900" b="0" lang="vi-VN">
                <a:solidFill>
                  <a:srgbClr val="596A77"/>
                </a:solidFill>
                <a:latin typeface="Arial"/>
              </a:rPr>
              <a:t>Gom nhóm; chọn giữ nguyên,</a:t>
            </a:r>
          </a:p>
          <a:p>
            <a:pPr algn="l">
              <a:lnSpc>
                <a:spcPct val="120000"/>
              </a:lnSpc>
              <a:spcBef>
                <a:spcPts val="0"/>
              </a:spcBef>
              <a:spcAft>
                <a:spcPts val="0"/>
              </a:spcAft>
            </a:pPr>
            <a:r>
              <a:rPr sz="1900" b="0" lang="vi-VN">
                <a:solidFill>
                  <a:srgbClr val="596A77"/>
                </a:solidFill>
                <a:latin typeface="Arial"/>
              </a:rPr>
              <a:t>thân bài hoặc đề mục.</a:t>
            </a:r>
          </a:p>
        </p:txBody>
      </p:sp>
      <p:sp>
        <p:nvSpPr>
          <p:cNvPr id="18" name="Rounded Rectangle 17"/>
          <p:cNvSpPr/>
          <p:nvPr/>
        </p:nvSpPr>
        <p:spPr>
          <a:xfrm>
            <a:off x="8138160" y="2139696"/>
            <a:ext cx="3611880" cy="3246120"/>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8138160" y="2139696"/>
            <a:ext cx="3611880" cy="658368"/>
          </a:xfrm>
          <a:prstGeom prst="roundRect">
            <a:avLst>
              <a:gd name="adj" fmla="val 8000"/>
            </a:avLst>
          </a:prstGeom>
          <a:solidFill>
            <a:srgbClr val="F9E7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330184" y="2331720"/>
            <a:ext cx="320040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300" b="1" lang="vi-VN">
                <a:solidFill>
                  <a:srgbClr val="B52033"/>
                </a:solidFill>
                <a:latin typeface="Arial"/>
              </a:rPr>
              <a:t>GIỮ NGUYÊN</a:t>
            </a:r>
          </a:p>
        </p:txBody>
      </p:sp>
      <p:sp>
        <p:nvSpPr>
          <p:cNvPr id="21" name="TextBox 20"/>
          <p:cNvSpPr txBox="1"/>
          <p:nvPr/>
        </p:nvSpPr>
        <p:spPr>
          <a:xfrm>
            <a:off x="8348472" y="3072384"/>
            <a:ext cx="3154680" cy="658368"/>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192A39"/>
                </a:solidFill>
                <a:latin typeface="Arial"/>
              </a:rPr>
              <a:t>Rủi ro làm vỡ cấu trúc</a:t>
            </a:r>
          </a:p>
        </p:txBody>
      </p:sp>
      <p:sp>
        <p:nvSpPr>
          <p:cNvPr id="22" name="TextBox 21"/>
          <p:cNvSpPr txBox="1"/>
          <p:nvPr/>
        </p:nvSpPr>
        <p:spPr>
          <a:xfrm>
            <a:off x="8348472" y="4069080"/>
            <a:ext cx="3154680" cy="914400"/>
          </a:xfrm>
          <a:prstGeom prst="rect">
            <a:avLst/>
          </a:prstGeom>
          <a:noFill/>
          <a:effectLst/>
        </p:spPr>
        <p:txBody>
          <a:bodyPr wrap="square" lIns="0" rIns="0" tIns="0" bIns="0" anchor="t">
            <a:spAutoFit/>
          </a:bodyPr>
          <a:lstStyle/>
          <a:p>
            <a:pPr algn="l">
              <a:lnSpc>
                <a:spcPct val="120000"/>
              </a:lnSpc>
              <a:spcBef>
                <a:spcPts val="0"/>
              </a:spcBef>
              <a:spcAft>
                <a:spcPts val="0"/>
              </a:spcAft>
            </a:pPr>
            <a:r>
              <a:rPr sz="1900" b="0" lang="vi-VN">
                <a:solidFill>
                  <a:srgbClr val="596A77"/>
                </a:solidFill>
                <a:latin typeface="Arial"/>
              </a:rPr>
              <a:t>Khung, cụm chữ, đối tượng</a:t>
            </a:r>
          </a:p>
          <a:p>
            <a:pPr algn="l">
              <a:lnSpc>
                <a:spcPct val="120000"/>
              </a:lnSpc>
              <a:spcBef>
                <a:spcPts val="0"/>
              </a:spcBef>
              <a:spcAft>
                <a:spcPts val="0"/>
              </a:spcAft>
            </a:pPr>
            <a:r>
              <a:rPr sz="1900" b="0" lang="vi-VN">
                <a:solidFill>
                  <a:srgbClr val="596A77"/>
                </a:solidFill>
                <a:latin typeface="Arial"/>
              </a:rPr>
              <a:t>cố định cần được bảo vệ.</a:t>
            </a:r>
          </a:p>
        </p:txBody>
      </p:sp>
      <p:sp>
        <p:nvSpPr>
          <p:cNvPr id="23" name="TextBox 22"/>
          <p:cNvSpPr txBox="1"/>
          <p:nvPr/>
        </p:nvSpPr>
        <p:spPr>
          <a:xfrm>
            <a:off x="603504" y="5577840"/>
            <a:ext cx="10972800" cy="365760"/>
          </a:xfrm>
          <a:prstGeom prst="rect">
            <a:avLst/>
          </a:prstGeom>
          <a:noFill/>
          <a:effectLst/>
        </p:spPr>
        <p:txBody>
          <a:bodyPr wrap="square" lIns="0" rIns="0" tIns="0" bIns="0" anchor="t">
            <a:spAutoFit/>
          </a:bodyPr>
          <a:lstStyle/>
          <a:p>
            <a:pPr algn="ctr">
              <a:lnSpc>
                <a:spcPct val="113000"/>
              </a:lnSpc>
              <a:spcBef>
                <a:spcPts val="0"/>
              </a:spcBef>
              <a:spcAft>
                <a:spcPts val="0"/>
              </a:spcAft>
            </a:pPr>
            <a:r>
              <a:rPr sz="2200" b="1" lang="vi-VN">
                <a:solidFill>
                  <a:srgbClr val="192A39"/>
                </a:solidFill>
                <a:latin typeface="Arial"/>
              </a:rPr>
              <a:t>Thay đổi chỉ có giá trị khi đúng phạm vi và kiểm tra được.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B52033"/>
                </a:solidFill>
                <a:latin typeface="Arial"/>
              </a:rPr>
              <a:t>05  /  TRẢI NGHIỆM SỬ DỤNG</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Một quy trình, từ tệp gốc đến bản kiểm tra.</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DOCLINT  /  BÁO CÁO CUỐI KỲ</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07 / 13</a:t>
            </a:r>
          </a:p>
        </p:txBody>
      </p:sp>
      <p:sp>
        <p:nvSpPr>
          <p:cNvPr id="7" name="Rectangle 6"/>
          <p:cNvSpPr/>
          <p:nvPr/>
        </p:nvSpPr>
        <p:spPr>
          <a:xfrm>
            <a:off x="0" y="6821424"/>
            <a:ext cx="6564922" cy="36576"/>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530352" y="2423160"/>
            <a:ext cx="2578608" cy="2551176"/>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749808" y="2724912"/>
            <a:ext cx="493776" cy="493776"/>
          </a:xfrm>
          <a:prstGeom prst="ellipse">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49808" y="2802636"/>
            <a:ext cx="493776" cy="274320"/>
          </a:xfrm>
          <a:prstGeom prst="rect">
            <a:avLst/>
          </a:prstGeom>
          <a:noFill/>
          <a:effectLst/>
        </p:spPr>
        <p:txBody>
          <a:bodyPr wrap="square" lIns="0" rIns="0" tIns="0" bIns="0" anchor="t">
            <a:spAutoFit/>
          </a:bodyPr>
          <a:lstStyle/>
          <a:p>
            <a:pPr algn="ctr">
              <a:lnSpc>
                <a:spcPct val="113000"/>
              </a:lnSpc>
              <a:spcBef>
                <a:spcPts val="0"/>
              </a:spcBef>
              <a:spcAft>
                <a:spcPts val="0"/>
              </a:spcAft>
            </a:pPr>
            <a:r>
              <a:rPr sz="2000" b="1" lang="vi-VN">
                <a:solidFill>
                  <a:srgbClr val="FFFFFF"/>
                </a:solidFill>
                <a:latin typeface="Arial"/>
              </a:rPr>
              <a:t>1</a:t>
            </a:r>
          </a:p>
        </p:txBody>
      </p:sp>
      <p:sp>
        <p:nvSpPr>
          <p:cNvPr id="11" name="TextBox 10"/>
          <p:cNvSpPr txBox="1"/>
          <p:nvPr/>
        </p:nvSpPr>
        <p:spPr>
          <a:xfrm>
            <a:off x="749808" y="3529584"/>
            <a:ext cx="214884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1900" b="1" lang="vi-VN">
                <a:solidFill>
                  <a:srgbClr val="192A39"/>
                </a:solidFill>
                <a:latin typeface="Arial"/>
              </a:rPr>
              <a:t>TẢI TỆP</a:t>
            </a:r>
          </a:p>
        </p:txBody>
      </p:sp>
      <p:sp>
        <p:nvSpPr>
          <p:cNvPr id="12" name="TextBox 11"/>
          <p:cNvSpPr txBox="1"/>
          <p:nvPr/>
        </p:nvSpPr>
        <p:spPr>
          <a:xfrm>
            <a:off x="749808" y="4114800"/>
            <a:ext cx="2148840" cy="676656"/>
          </a:xfrm>
          <a:prstGeom prst="rect">
            <a:avLst/>
          </a:prstGeom>
          <a:noFill/>
          <a:effectLst/>
        </p:spPr>
        <p:txBody>
          <a:bodyPr wrap="square" lIns="0" rIns="0" tIns="0" bIns="0" anchor="t">
            <a:spAutoFit/>
          </a:bodyPr>
          <a:lstStyle/>
          <a:p>
            <a:pPr algn="l">
              <a:lnSpc>
                <a:spcPct val="113000"/>
              </a:lnSpc>
              <a:spcBef>
                <a:spcPts val="0"/>
              </a:spcBef>
              <a:spcAft>
                <a:spcPts val="0"/>
              </a:spcAft>
            </a:pPr>
            <a:r>
              <a:rPr sz="1700" b="0" lang="vi-VN">
                <a:solidFill>
                  <a:srgbClr val="596A77"/>
                </a:solidFill>
                <a:latin typeface="Arial"/>
              </a:rPr>
              <a:t>DOCX + mẫu</a:t>
            </a:r>
          </a:p>
          <a:p>
            <a:pPr algn="l">
              <a:lnSpc>
                <a:spcPct val="113000"/>
              </a:lnSpc>
              <a:spcBef>
                <a:spcPts val="0"/>
              </a:spcBef>
              <a:spcAft>
                <a:spcPts val="0"/>
              </a:spcAft>
            </a:pPr>
            <a:r>
              <a:rPr sz="1700" b="0" lang="vi-VN">
                <a:solidFill>
                  <a:srgbClr val="596A77"/>
                </a:solidFill>
                <a:latin typeface="Arial"/>
              </a:rPr>
              <a:t>trình bày</a:t>
            </a:r>
          </a:p>
        </p:txBody>
      </p:sp>
      <p:sp>
        <p:nvSpPr>
          <p:cNvPr id="13" name="TextBox 12"/>
          <p:cNvSpPr txBox="1"/>
          <p:nvPr/>
        </p:nvSpPr>
        <p:spPr>
          <a:xfrm>
            <a:off x="3108960" y="3447288"/>
            <a:ext cx="274320" cy="365760"/>
          </a:xfrm>
          <a:prstGeom prst="rect">
            <a:avLst/>
          </a:prstGeom>
          <a:noFill/>
          <a:effectLst/>
        </p:spPr>
        <p:txBody>
          <a:bodyPr wrap="square" lIns="0" rIns="0" tIns="0" bIns="0" anchor="t">
            <a:spAutoFit/>
          </a:bodyPr>
          <a:lstStyle/>
          <a:p>
            <a:pPr algn="ctr">
              <a:lnSpc>
                <a:spcPct val="113000"/>
              </a:lnSpc>
              <a:spcBef>
                <a:spcPts val="0"/>
              </a:spcBef>
              <a:spcAft>
                <a:spcPts val="0"/>
              </a:spcAft>
            </a:pPr>
            <a:r>
              <a:rPr sz="2200" b="1" lang="vi-VN">
                <a:solidFill>
                  <a:srgbClr val="596A77"/>
                </a:solidFill>
                <a:latin typeface="Arial"/>
              </a:rPr>
              <a:t>→</a:t>
            </a:r>
          </a:p>
        </p:txBody>
      </p:sp>
      <p:sp>
        <p:nvSpPr>
          <p:cNvPr id="14" name="Rounded Rectangle 13"/>
          <p:cNvSpPr/>
          <p:nvPr/>
        </p:nvSpPr>
        <p:spPr>
          <a:xfrm>
            <a:off x="3383280" y="2423160"/>
            <a:ext cx="2578608" cy="2551176"/>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3602736" y="2724912"/>
            <a:ext cx="493776" cy="493776"/>
          </a:xfrm>
          <a:prstGeom prst="ellipse">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602736" y="2802636"/>
            <a:ext cx="493776" cy="274320"/>
          </a:xfrm>
          <a:prstGeom prst="rect">
            <a:avLst/>
          </a:prstGeom>
          <a:noFill/>
          <a:effectLst/>
        </p:spPr>
        <p:txBody>
          <a:bodyPr wrap="square" lIns="0" rIns="0" tIns="0" bIns="0" anchor="t">
            <a:spAutoFit/>
          </a:bodyPr>
          <a:lstStyle/>
          <a:p>
            <a:pPr algn="ctr">
              <a:lnSpc>
                <a:spcPct val="113000"/>
              </a:lnSpc>
              <a:spcBef>
                <a:spcPts val="0"/>
              </a:spcBef>
              <a:spcAft>
                <a:spcPts val="0"/>
              </a:spcAft>
            </a:pPr>
            <a:r>
              <a:rPr sz="2000" b="1" lang="vi-VN">
                <a:solidFill>
                  <a:srgbClr val="FFFFFF"/>
                </a:solidFill>
                <a:latin typeface="Arial"/>
              </a:rPr>
              <a:t>2</a:t>
            </a:r>
          </a:p>
        </p:txBody>
      </p:sp>
      <p:sp>
        <p:nvSpPr>
          <p:cNvPr id="17" name="TextBox 16"/>
          <p:cNvSpPr txBox="1"/>
          <p:nvPr/>
        </p:nvSpPr>
        <p:spPr>
          <a:xfrm>
            <a:off x="3602736" y="3529584"/>
            <a:ext cx="214884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1900" b="1" lang="vi-VN">
                <a:solidFill>
                  <a:srgbClr val="192A39"/>
                </a:solidFill>
                <a:latin typeface="Arial"/>
              </a:rPr>
              <a:t>DUYỆT NHÓM</a:t>
            </a:r>
          </a:p>
        </p:txBody>
      </p:sp>
      <p:sp>
        <p:nvSpPr>
          <p:cNvPr id="18" name="TextBox 17"/>
          <p:cNvSpPr txBox="1"/>
          <p:nvPr/>
        </p:nvSpPr>
        <p:spPr>
          <a:xfrm>
            <a:off x="3602736" y="4114800"/>
            <a:ext cx="2148840" cy="676656"/>
          </a:xfrm>
          <a:prstGeom prst="rect">
            <a:avLst/>
          </a:prstGeom>
          <a:noFill/>
          <a:effectLst/>
        </p:spPr>
        <p:txBody>
          <a:bodyPr wrap="square" lIns="0" rIns="0" tIns="0" bIns="0" anchor="t">
            <a:spAutoFit/>
          </a:bodyPr>
          <a:lstStyle/>
          <a:p>
            <a:pPr algn="l">
              <a:lnSpc>
                <a:spcPct val="113000"/>
              </a:lnSpc>
              <a:spcBef>
                <a:spcPts val="0"/>
              </a:spcBef>
              <a:spcAft>
                <a:spcPts val="0"/>
              </a:spcAft>
            </a:pPr>
            <a:r>
              <a:rPr sz="1700" b="0" lang="vi-VN">
                <a:solidFill>
                  <a:srgbClr val="596A77"/>
                </a:solidFill>
                <a:latin typeface="Arial"/>
              </a:rPr>
              <a:t>Chỉ xác nhận phần</a:t>
            </a:r>
          </a:p>
          <a:p>
            <a:pPr algn="l">
              <a:lnSpc>
                <a:spcPct val="113000"/>
              </a:lnSpc>
              <a:spcBef>
                <a:spcPts val="0"/>
              </a:spcBef>
              <a:spcAft>
                <a:spcPts val="0"/>
              </a:spcAft>
            </a:pPr>
            <a:r>
              <a:rPr sz="1700" b="0" lang="vi-VN">
                <a:solidFill>
                  <a:srgbClr val="596A77"/>
                </a:solidFill>
                <a:latin typeface="Arial"/>
              </a:rPr>
              <a:t>có thể nhận sai</a:t>
            </a:r>
          </a:p>
        </p:txBody>
      </p:sp>
      <p:sp>
        <p:nvSpPr>
          <p:cNvPr id="19" name="TextBox 18"/>
          <p:cNvSpPr txBox="1"/>
          <p:nvPr/>
        </p:nvSpPr>
        <p:spPr>
          <a:xfrm>
            <a:off x="5961888" y="3447288"/>
            <a:ext cx="274320" cy="365760"/>
          </a:xfrm>
          <a:prstGeom prst="rect">
            <a:avLst/>
          </a:prstGeom>
          <a:noFill/>
          <a:effectLst/>
        </p:spPr>
        <p:txBody>
          <a:bodyPr wrap="square" lIns="0" rIns="0" tIns="0" bIns="0" anchor="t">
            <a:spAutoFit/>
          </a:bodyPr>
          <a:lstStyle/>
          <a:p>
            <a:pPr algn="ctr">
              <a:lnSpc>
                <a:spcPct val="113000"/>
              </a:lnSpc>
              <a:spcBef>
                <a:spcPts val="0"/>
              </a:spcBef>
              <a:spcAft>
                <a:spcPts val="0"/>
              </a:spcAft>
            </a:pPr>
            <a:r>
              <a:rPr sz="2200" b="1" lang="vi-VN">
                <a:solidFill>
                  <a:srgbClr val="596A77"/>
                </a:solidFill>
                <a:latin typeface="Arial"/>
              </a:rPr>
              <a:t>→</a:t>
            </a:r>
          </a:p>
        </p:txBody>
      </p:sp>
      <p:sp>
        <p:nvSpPr>
          <p:cNvPr id="20" name="Rounded Rectangle 19"/>
          <p:cNvSpPr/>
          <p:nvPr/>
        </p:nvSpPr>
        <p:spPr>
          <a:xfrm>
            <a:off x="6236208" y="2423160"/>
            <a:ext cx="2578608" cy="2551176"/>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6455664" y="2724912"/>
            <a:ext cx="493776" cy="493776"/>
          </a:xfrm>
          <a:prstGeom prst="ellipse">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55664" y="2802636"/>
            <a:ext cx="493776" cy="274320"/>
          </a:xfrm>
          <a:prstGeom prst="rect">
            <a:avLst/>
          </a:prstGeom>
          <a:noFill/>
          <a:effectLst/>
        </p:spPr>
        <p:txBody>
          <a:bodyPr wrap="square" lIns="0" rIns="0" tIns="0" bIns="0" anchor="t">
            <a:spAutoFit/>
          </a:bodyPr>
          <a:lstStyle/>
          <a:p>
            <a:pPr algn="ctr">
              <a:lnSpc>
                <a:spcPct val="113000"/>
              </a:lnSpc>
              <a:spcBef>
                <a:spcPts val="0"/>
              </a:spcBef>
              <a:spcAft>
                <a:spcPts val="0"/>
              </a:spcAft>
            </a:pPr>
            <a:r>
              <a:rPr sz="2000" b="1" lang="vi-VN">
                <a:solidFill>
                  <a:srgbClr val="FFFFFF"/>
                </a:solidFill>
                <a:latin typeface="Arial"/>
              </a:rPr>
              <a:t>3</a:t>
            </a:r>
          </a:p>
        </p:txBody>
      </p:sp>
      <p:sp>
        <p:nvSpPr>
          <p:cNvPr id="23" name="TextBox 22"/>
          <p:cNvSpPr txBox="1"/>
          <p:nvPr/>
        </p:nvSpPr>
        <p:spPr>
          <a:xfrm>
            <a:off x="6455664" y="3529584"/>
            <a:ext cx="214884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1900" b="1" lang="vi-VN">
                <a:solidFill>
                  <a:srgbClr val="192A39"/>
                </a:solidFill>
                <a:latin typeface="Arial"/>
              </a:rPr>
              <a:t>XEM TRƯỚC</a:t>
            </a:r>
          </a:p>
        </p:txBody>
      </p:sp>
      <p:sp>
        <p:nvSpPr>
          <p:cNvPr id="24" name="TextBox 23"/>
          <p:cNvSpPr txBox="1"/>
          <p:nvPr/>
        </p:nvSpPr>
        <p:spPr>
          <a:xfrm>
            <a:off x="6455664" y="4114800"/>
            <a:ext cx="2148840" cy="676656"/>
          </a:xfrm>
          <a:prstGeom prst="rect">
            <a:avLst/>
          </a:prstGeom>
          <a:noFill/>
          <a:effectLst/>
        </p:spPr>
        <p:txBody>
          <a:bodyPr wrap="square" lIns="0" rIns="0" tIns="0" bIns="0" anchor="t">
            <a:spAutoFit/>
          </a:bodyPr>
          <a:lstStyle/>
          <a:p>
            <a:pPr algn="l">
              <a:lnSpc>
                <a:spcPct val="113000"/>
              </a:lnSpc>
              <a:spcBef>
                <a:spcPts val="0"/>
              </a:spcBef>
              <a:spcAft>
                <a:spcPts val="0"/>
              </a:spcAft>
            </a:pPr>
            <a:r>
              <a:rPr sz="1700" b="0" lang="vi-VN">
                <a:solidFill>
                  <a:srgbClr val="596A77"/>
                </a:solidFill>
                <a:latin typeface="Arial"/>
              </a:rPr>
              <a:t>Kiểm tra kết quả</a:t>
            </a:r>
          </a:p>
          <a:p>
            <a:pPr algn="l">
              <a:lnSpc>
                <a:spcPct val="113000"/>
              </a:lnSpc>
              <a:spcBef>
                <a:spcPts val="0"/>
              </a:spcBef>
              <a:spcAft>
                <a:spcPts val="0"/>
              </a:spcAft>
            </a:pPr>
            <a:r>
              <a:rPr sz="1700" b="0" lang="vi-VN">
                <a:solidFill>
                  <a:srgbClr val="596A77"/>
                </a:solidFill>
                <a:latin typeface="Arial"/>
              </a:rPr>
              <a:t>và cảnh báo</a:t>
            </a:r>
          </a:p>
        </p:txBody>
      </p:sp>
      <p:sp>
        <p:nvSpPr>
          <p:cNvPr id="25" name="TextBox 24"/>
          <p:cNvSpPr txBox="1"/>
          <p:nvPr/>
        </p:nvSpPr>
        <p:spPr>
          <a:xfrm>
            <a:off x="8814816" y="3447288"/>
            <a:ext cx="274320" cy="365760"/>
          </a:xfrm>
          <a:prstGeom prst="rect">
            <a:avLst/>
          </a:prstGeom>
          <a:noFill/>
          <a:effectLst/>
        </p:spPr>
        <p:txBody>
          <a:bodyPr wrap="square" lIns="0" rIns="0" tIns="0" bIns="0" anchor="t">
            <a:spAutoFit/>
          </a:bodyPr>
          <a:lstStyle/>
          <a:p>
            <a:pPr algn="ctr">
              <a:lnSpc>
                <a:spcPct val="113000"/>
              </a:lnSpc>
              <a:spcBef>
                <a:spcPts val="0"/>
              </a:spcBef>
              <a:spcAft>
                <a:spcPts val="0"/>
              </a:spcAft>
            </a:pPr>
            <a:r>
              <a:rPr sz="2200" b="1" lang="vi-VN">
                <a:solidFill>
                  <a:srgbClr val="596A77"/>
                </a:solidFill>
                <a:latin typeface="Arial"/>
              </a:rPr>
              <a:t>→</a:t>
            </a:r>
          </a:p>
        </p:txBody>
      </p:sp>
      <p:sp>
        <p:nvSpPr>
          <p:cNvPr id="26" name="Rounded Rectangle 25"/>
          <p:cNvSpPr/>
          <p:nvPr/>
        </p:nvSpPr>
        <p:spPr>
          <a:xfrm>
            <a:off x="9089136" y="2423160"/>
            <a:ext cx="2578608" cy="2551176"/>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9308592" y="2724912"/>
            <a:ext cx="493776" cy="493776"/>
          </a:xfrm>
          <a:prstGeom prst="ellipse">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9308592" y="2802636"/>
            <a:ext cx="493776" cy="274320"/>
          </a:xfrm>
          <a:prstGeom prst="rect">
            <a:avLst/>
          </a:prstGeom>
          <a:noFill/>
          <a:effectLst/>
        </p:spPr>
        <p:txBody>
          <a:bodyPr wrap="square" lIns="0" rIns="0" tIns="0" bIns="0" anchor="t">
            <a:spAutoFit/>
          </a:bodyPr>
          <a:lstStyle/>
          <a:p>
            <a:pPr algn="ctr">
              <a:lnSpc>
                <a:spcPct val="113000"/>
              </a:lnSpc>
              <a:spcBef>
                <a:spcPts val="0"/>
              </a:spcBef>
              <a:spcAft>
                <a:spcPts val="0"/>
              </a:spcAft>
            </a:pPr>
            <a:r>
              <a:rPr sz="2000" b="1" lang="vi-VN">
                <a:solidFill>
                  <a:srgbClr val="FFFFFF"/>
                </a:solidFill>
                <a:latin typeface="Arial"/>
              </a:rPr>
              <a:t>4</a:t>
            </a:r>
          </a:p>
        </p:txBody>
      </p:sp>
      <p:sp>
        <p:nvSpPr>
          <p:cNvPr id="29" name="TextBox 28"/>
          <p:cNvSpPr txBox="1"/>
          <p:nvPr/>
        </p:nvSpPr>
        <p:spPr>
          <a:xfrm>
            <a:off x="9308592" y="3529584"/>
            <a:ext cx="214884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1900" b="1" lang="vi-VN">
                <a:solidFill>
                  <a:srgbClr val="192A39"/>
                </a:solidFill>
                <a:latin typeface="Arial"/>
              </a:rPr>
              <a:t>TẢI KẾT QUẢ</a:t>
            </a:r>
          </a:p>
        </p:txBody>
      </p:sp>
      <p:sp>
        <p:nvSpPr>
          <p:cNvPr id="30" name="TextBox 29"/>
          <p:cNvSpPr txBox="1"/>
          <p:nvPr/>
        </p:nvSpPr>
        <p:spPr>
          <a:xfrm>
            <a:off x="9308592" y="4114800"/>
            <a:ext cx="2148840" cy="676656"/>
          </a:xfrm>
          <a:prstGeom prst="rect">
            <a:avLst/>
          </a:prstGeom>
          <a:noFill/>
          <a:effectLst/>
        </p:spPr>
        <p:txBody>
          <a:bodyPr wrap="square" lIns="0" rIns="0" tIns="0" bIns="0" anchor="t">
            <a:spAutoFit/>
          </a:bodyPr>
          <a:lstStyle/>
          <a:p>
            <a:pPr algn="l">
              <a:lnSpc>
                <a:spcPct val="113000"/>
              </a:lnSpc>
              <a:spcBef>
                <a:spcPts val="0"/>
              </a:spcBef>
              <a:spcAft>
                <a:spcPts val="0"/>
              </a:spcAft>
            </a:pPr>
            <a:r>
              <a:rPr sz="1700" b="0" lang="vi-VN">
                <a:solidFill>
                  <a:srgbClr val="596A77"/>
                </a:solidFill>
                <a:latin typeface="Arial"/>
              </a:rPr>
              <a:t>Word · PDF khi có</a:t>
            </a:r>
          </a:p>
          <a:p>
            <a:pPr algn="l">
              <a:lnSpc>
                <a:spcPct val="113000"/>
              </a:lnSpc>
              <a:spcBef>
                <a:spcPts val="0"/>
              </a:spcBef>
              <a:spcAft>
                <a:spcPts val="0"/>
              </a:spcAft>
            </a:pPr>
            <a:r>
              <a:rPr sz="1700" b="0" lang="vi-VN">
                <a:solidFill>
                  <a:srgbClr val="596A77"/>
                </a:solidFill>
                <a:latin typeface="Arial"/>
              </a:rPr>
              <a:t>Nhật ký JSON</a:t>
            </a:r>
          </a:p>
        </p:txBody>
      </p:sp>
      <p:sp>
        <p:nvSpPr>
          <p:cNvPr id="31" name="Rounded Rectangle 30"/>
          <p:cNvSpPr/>
          <p:nvPr/>
        </p:nvSpPr>
        <p:spPr>
          <a:xfrm>
            <a:off x="1170432" y="5349240"/>
            <a:ext cx="9784080" cy="420624"/>
          </a:xfrm>
          <a:prstGeom prst="roundRect">
            <a:avLst>
              <a:gd name="adj" fmla="val 8000"/>
            </a:avLst>
          </a:prstGeom>
          <a:solidFill>
            <a:srgbClr val="E4F1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1371600" y="5440680"/>
            <a:ext cx="9326880" cy="246888"/>
          </a:xfrm>
          <a:prstGeom prst="rect">
            <a:avLst/>
          </a:prstGeom>
          <a:noFill/>
          <a:effectLst/>
        </p:spPr>
        <p:txBody>
          <a:bodyPr wrap="square" lIns="0" rIns="0" tIns="0" bIns="0" anchor="t">
            <a:spAutoFit/>
          </a:bodyPr>
          <a:lstStyle/>
          <a:p>
            <a:pPr algn="ctr">
              <a:lnSpc>
                <a:spcPct val="113000"/>
              </a:lnSpc>
              <a:spcBef>
                <a:spcPts val="0"/>
              </a:spcBef>
              <a:spcAft>
                <a:spcPts val="0"/>
              </a:spcAft>
            </a:pPr>
            <a:r>
              <a:rPr sz="1700" b="1" lang="vi-VN">
                <a:solidFill>
                  <a:srgbClr val="0B796B"/>
                </a:solidFill>
                <a:latin typeface="Arial"/>
              </a:rPr>
              <a:t>Đổi lựa chọn? Luôn dàn trang lại từ bản gốc.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B52033"/>
                </a:solidFill>
                <a:latin typeface="Arial"/>
              </a:rPr>
              <a:t>06  /  KẾT QUẢ MINH HỌA</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Ví dụ thực: ba dòng bìa được căn đúng.</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DOCLINT  /  BÁO CÁO CUỐI KỲ</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08 / 13</a:t>
            </a:r>
          </a:p>
        </p:txBody>
      </p:sp>
      <p:sp>
        <p:nvSpPr>
          <p:cNvPr id="7" name="TextBox 6"/>
          <p:cNvSpPr txBox="1"/>
          <p:nvPr/>
        </p:nvSpPr>
        <p:spPr>
          <a:xfrm>
            <a:off x="548640" y="5989320"/>
            <a:ext cx="11109960" cy="274320"/>
          </a:xfrm>
          <a:prstGeom prst="rect">
            <a:avLst/>
          </a:prstGeom>
          <a:noFill/>
          <a:effectLst/>
        </p:spPr>
        <p:txBody>
          <a:bodyPr wrap="square" lIns="0" rIns="0" tIns="0" bIns="0" anchor="t">
            <a:spAutoFit/>
          </a:bodyPr>
          <a:lstStyle/>
          <a:p>
            <a:pPr algn="l">
              <a:lnSpc>
                <a:spcPct val="100000"/>
              </a:lnSpc>
              <a:spcBef>
                <a:spcPts val="0"/>
              </a:spcBef>
              <a:spcAft>
                <a:spcPts val="0"/>
              </a:spcAft>
            </a:pPr>
            <a:r>
              <a:rPr sz="930" b="0" lang="vi-VN">
                <a:solidFill>
                  <a:srgbClr val="596A77"/>
                </a:solidFill>
                <a:latin typeface="Arial"/>
              </a:rPr>
              <a:t>Nguồn: ca hồi quy tổng hợp case 00; ảnh từ hai PDF đã kiểm chứng. Phóng to vùng bìa, không phải toàn trang.</a:t>
            </a:r>
          </a:p>
        </p:txBody>
      </p:sp>
      <p:sp>
        <p:nvSpPr>
          <p:cNvPr id="8" name="Rectangle 7"/>
          <p:cNvSpPr/>
          <p:nvPr/>
        </p:nvSpPr>
        <p:spPr>
          <a:xfrm>
            <a:off x="0" y="6821424"/>
            <a:ext cx="7502769" cy="36576"/>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530352" y="2029968"/>
            <a:ext cx="5340096" cy="3547872"/>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713232" y="2185416"/>
            <a:ext cx="2468880" cy="310896"/>
          </a:xfrm>
          <a:prstGeom prst="roundRect">
            <a:avLst>
              <a:gd name="adj" fmla="val 8000"/>
            </a:avLst>
          </a:prstGeom>
          <a:solidFill>
            <a:srgbClr val="F9E7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95528" y="2244852"/>
            <a:ext cx="2304288" cy="219456"/>
          </a:xfrm>
          <a:prstGeom prst="rect">
            <a:avLst/>
          </a:prstGeom>
          <a:noFill/>
          <a:effectLst/>
        </p:spPr>
        <p:txBody>
          <a:bodyPr wrap="square" lIns="0" rIns="0" tIns="0" bIns="0" anchor="t">
            <a:spAutoFit/>
          </a:bodyPr>
          <a:lstStyle/>
          <a:p>
            <a:pPr algn="l">
              <a:lnSpc>
                <a:spcPct val="113000"/>
              </a:lnSpc>
              <a:spcBef>
                <a:spcPts val="0"/>
              </a:spcBef>
              <a:spcAft>
                <a:spcPts val="0"/>
              </a:spcAft>
            </a:pPr>
            <a:r>
              <a:rPr sz="1200" b="1" lang="vi-VN">
                <a:solidFill>
                  <a:srgbClr val="B52033"/>
                </a:solidFill>
                <a:latin typeface="Arial"/>
              </a:rPr>
              <a:t>KẾT QUẢ CŨ</a:t>
            </a:r>
          </a:p>
        </p:txBody>
      </p:sp>
      <p:pic>
        <p:nvPicPr>
          <p:cNvPr id="12" name="Picture 11" descr="old-minimal.png"/>
          <p:cNvPicPr>
            <a:picLocks noChangeAspect="1"/>
          </p:cNvPicPr>
          <p:nvPr/>
        </p:nvPicPr>
        <p:blipFill>
          <a:blip r:embed="rId3"/>
          <a:srcRect b="60000"/>
          <a:stretch>
            <a:fillRect/>
          </a:stretch>
        </p:blipFill>
        <p:spPr>
          <a:xfrm>
            <a:off x="694944" y="2724912"/>
            <a:ext cx="5010912" cy="2834640"/>
          </a:xfrm>
          <a:prstGeom prst="rect">
            <a:avLst/>
          </a:prstGeom>
        </p:spPr>
      </p:pic>
      <p:sp>
        <p:nvSpPr>
          <p:cNvPr id="13" name="Rounded Rectangle 12"/>
          <p:cNvSpPr/>
          <p:nvPr/>
        </p:nvSpPr>
        <p:spPr>
          <a:xfrm>
            <a:off x="6318504" y="2029968"/>
            <a:ext cx="5340096" cy="3547872"/>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6501384" y="2185416"/>
            <a:ext cx="2468880" cy="310896"/>
          </a:xfrm>
          <a:prstGeom prst="roundRect">
            <a:avLst>
              <a:gd name="adj" fmla="val 8000"/>
            </a:avLst>
          </a:prstGeom>
          <a:solidFill>
            <a:srgbClr val="E4F1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583680" y="2244852"/>
            <a:ext cx="2304288" cy="219456"/>
          </a:xfrm>
          <a:prstGeom prst="rect">
            <a:avLst/>
          </a:prstGeom>
          <a:noFill/>
          <a:effectLst/>
        </p:spPr>
        <p:txBody>
          <a:bodyPr wrap="square" lIns="0" rIns="0" tIns="0" bIns="0" anchor="t">
            <a:spAutoFit/>
          </a:bodyPr>
          <a:lstStyle/>
          <a:p>
            <a:pPr algn="l">
              <a:lnSpc>
                <a:spcPct val="113000"/>
              </a:lnSpc>
              <a:spcBef>
                <a:spcPts val="0"/>
              </a:spcBef>
              <a:spcAft>
                <a:spcPts val="0"/>
              </a:spcAft>
            </a:pPr>
            <a:r>
              <a:rPr sz="1200" b="1" lang="vi-VN">
                <a:solidFill>
                  <a:srgbClr val="0B796B"/>
                </a:solidFill>
                <a:latin typeface="Arial"/>
              </a:rPr>
              <a:t>SAU CẢI TIẾN</a:t>
            </a:r>
          </a:p>
        </p:txBody>
      </p:sp>
      <p:pic>
        <p:nvPicPr>
          <p:cNvPr id="16" name="Picture 15" descr="cover.png"/>
          <p:cNvPicPr>
            <a:picLocks noChangeAspect="1"/>
          </p:cNvPicPr>
          <p:nvPr/>
        </p:nvPicPr>
        <p:blipFill>
          <a:blip r:embed="rId4"/>
          <a:srcRect b="60000"/>
          <a:stretch>
            <a:fillRect/>
          </a:stretch>
        </p:blipFill>
        <p:spPr>
          <a:xfrm>
            <a:off x="6483096" y="2724912"/>
            <a:ext cx="5010912" cy="2834640"/>
          </a:xfrm>
          <a:prstGeom prst="rect">
            <a:avLst/>
          </a:prstGeom>
        </p:spPr>
      </p:pic>
      <p:sp>
        <p:nvSpPr>
          <p:cNvPr id="17" name="TextBox 16"/>
          <p:cNvSpPr txBox="1"/>
          <p:nvPr/>
        </p:nvSpPr>
        <p:spPr>
          <a:xfrm>
            <a:off x="594360" y="5641848"/>
            <a:ext cx="10972800" cy="274320"/>
          </a:xfrm>
          <a:prstGeom prst="rect">
            <a:avLst/>
          </a:prstGeom>
          <a:noFill/>
          <a:effectLst/>
        </p:spPr>
        <p:txBody>
          <a:bodyPr wrap="square" lIns="0" rIns="0" tIns="0" bIns="0" anchor="t">
            <a:spAutoFit/>
          </a:bodyPr>
          <a:lstStyle/>
          <a:p>
            <a:pPr algn="ctr">
              <a:lnSpc>
                <a:spcPct val="113000"/>
              </a:lnSpc>
              <a:spcBef>
                <a:spcPts val="0"/>
              </a:spcBef>
              <a:spcAft>
                <a:spcPts val="0"/>
              </a:spcAft>
            </a:pPr>
            <a:r>
              <a:rPr sz="2000" b="1" lang="vi-VN">
                <a:solidFill>
                  <a:srgbClr val="192A39"/>
                </a:solidFill>
                <a:latin typeface="Arial"/>
              </a:rPr>
              <a:t>Cải thiện phải nhìn thấy được — và kiểm tra lại được.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B52033"/>
                </a:solidFill>
                <a:latin typeface="Arial"/>
              </a:rPr>
              <a:t>07  /  AN TOÀN TÀI LIỆU</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Giữ nguyên cũng là một tính năng.</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DOCLINT  /  BÁO CÁO CUỐI KỲ</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09 / 13</a:t>
            </a:r>
          </a:p>
        </p:txBody>
      </p:sp>
      <p:sp>
        <p:nvSpPr>
          <p:cNvPr id="7" name="Rectangle 6"/>
          <p:cNvSpPr/>
          <p:nvPr/>
        </p:nvSpPr>
        <p:spPr>
          <a:xfrm>
            <a:off x="0" y="6821424"/>
            <a:ext cx="8440615" cy="36576"/>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530352" y="2029968"/>
            <a:ext cx="4956048" cy="3602736"/>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68096" y="2249424"/>
            <a:ext cx="4480560" cy="457200"/>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192A39"/>
                </a:solidFill>
                <a:latin typeface="Arial"/>
              </a:rPr>
              <a:t>Tài liệu trộn nhiều kiểu bố cục</a:t>
            </a:r>
          </a:p>
        </p:txBody>
      </p:sp>
      <p:sp>
        <p:nvSpPr>
          <p:cNvPr id="10" name="Rounded Rectangle 9"/>
          <p:cNvSpPr/>
          <p:nvPr/>
        </p:nvSpPr>
        <p:spPr>
          <a:xfrm>
            <a:off x="786384" y="2907792"/>
            <a:ext cx="4425696" cy="868680"/>
          </a:xfrm>
          <a:prstGeom prst="roundRect">
            <a:avLst>
              <a:gd name="adj" fmla="val 8000"/>
            </a:avLst>
          </a:prstGeom>
          <a:solidFill>
            <a:srgbClr val="E4F1ED"/>
          </a:solidFill>
          <a:ln w="8890">
            <a:solidFill>
              <a:srgbClr val="0B796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87552" y="3063240"/>
            <a:ext cx="4023360" cy="548640"/>
          </a:xfrm>
          <a:prstGeom prst="rect">
            <a:avLst/>
          </a:prstGeom>
          <a:noFill/>
          <a:effectLst/>
        </p:spPr>
        <p:txBody>
          <a:bodyPr wrap="square" lIns="0" rIns="0" tIns="0" bIns="0" anchor="t">
            <a:spAutoFit/>
          </a:bodyPr>
          <a:lstStyle/>
          <a:p>
            <a:pPr algn="l">
              <a:lnSpc>
                <a:spcPct val="113000"/>
              </a:lnSpc>
              <a:spcBef>
                <a:spcPts val="0"/>
              </a:spcBef>
              <a:spcAft>
                <a:spcPts val="0"/>
              </a:spcAft>
            </a:pPr>
            <a:r>
              <a:rPr sz="1800" b="1" lang="vi-VN">
                <a:solidFill>
                  <a:srgbClr val="0B796B"/>
                </a:solidFill>
                <a:latin typeface="Arial"/>
              </a:rPr>
              <a:t>Văn bản theo luồng</a:t>
            </a:r>
          </a:p>
          <a:p>
            <a:pPr algn="l">
              <a:lnSpc>
                <a:spcPct val="113000"/>
              </a:lnSpc>
              <a:spcBef>
                <a:spcPts val="0"/>
              </a:spcBef>
              <a:spcAft>
                <a:spcPts val="0"/>
              </a:spcAft>
            </a:pPr>
            <a:r>
              <a:rPr sz="1800" b="1" lang="vi-VN">
                <a:solidFill>
                  <a:srgbClr val="0B796B"/>
                </a:solidFill>
                <a:latin typeface="Arial"/>
              </a:rPr>
              <a:t>Có thể chuẩn hóa khi đủ điều kiện</a:t>
            </a:r>
          </a:p>
        </p:txBody>
      </p:sp>
      <p:sp>
        <p:nvSpPr>
          <p:cNvPr id="12" name="Rounded Rectangle 11"/>
          <p:cNvSpPr/>
          <p:nvPr/>
        </p:nvSpPr>
        <p:spPr>
          <a:xfrm>
            <a:off x="786384" y="4041648"/>
            <a:ext cx="4425696" cy="1188720"/>
          </a:xfrm>
          <a:prstGeom prst="roundRect">
            <a:avLst>
              <a:gd name="adj" fmla="val 8000"/>
            </a:avLst>
          </a:prstGeom>
          <a:solidFill>
            <a:srgbClr val="F9E7EA"/>
          </a:solidFill>
          <a:ln w="8890">
            <a:solidFill>
              <a:srgbClr val="B5203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87552" y="4297680"/>
            <a:ext cx="4023360" cy="640080"/>
          </a:xfrm>
          <a:prstGeom prst="rect">
            <a:avLst/>
          </a:prstGeom>
          <a:noFill/>
          <a:effectLst/>
        </p:spPr>
        <p:txBody>
          <a:bodyPr wrap="square" lIns="0" rIns="0" tIns="0" bIns="0" anchor="t">
            <a:spAutoFit/>
          </a:bodyPr>
          <a:lstStyle/>
          <a:p>
            <a:pPr algn="l">
              <a:lnSpc>
                <a:spcPct val="113000"/>
              </a:lnSpc>
              <a:spcBef>
                <a:spcPts val="0"/>
              </a:spcBef>
              <a:spcAft>
                <a:spcPts val="0"/>
              </a:spcAft>
            </a:pPr>
            <a:r>
              <a:rPr sz="1800" b="1" lang="vi-VN">
                <a:solidFill>
                  <a:srgbClr val="B52033"/>
                </a:solidFill>
                <a:latin typeface="Arial"/>
              </a:rPr>
              <a:t>Vùng khung / cụm chữ cố định</a:t>
            </a:r>
          </a:p>
          <a:p>
            <a:pPr algn="l">
              <a:lnSpc>
                <a:spcPct val="113000"/>
              </a:lnSpc>
              <a:spcBef>
                <a:spcPts val="0"/>
              </a:spcBef>
              <a:spcAft>
                <a:spcPts val="0"/>
              </a:spcAft>
            </a:pPr>
            <a:r>
              <a:rPr sz="1800" b="1" lang="vi-VN">
                <a:solidFill>
                  <a:srgbClr val="B52033"/>
                </a:solidFill>
                <a:latin typeface="Arial"/>
              </a:rPr>
              <a:t>Bảo vệ cấu trúc và định dạng</a:t>
            </a:r>
          </a:p>
        </p:txBody>
      </p:sp>
      <p:sp>
        <p:nvSpPr>
          <p:cNvPr id="14" name="TextBox 13"/>
          <p:cNvSpPr txBox="1"/>
          <p:nvPr/>
        </p:nvSpPr>
        <p:spPr>
          <a:xfrm>
            <a:off x="6080760" y="2240280"/>
            <a:ext cx="594360" cy="429768"/>
          </a:xfrm>
          <a:prstGeom prst="rect">
            <a:avLst/>
          </a:prstGeom>
          <a:noFill/>
          <a:effectLst/>
        </p:spPr>
        <p:txBody>
          <a:bodyPr wrap="square" lIns="0" rIns="0" tIns="0" bIns="0" anchor="t">
            <a:spAutoFit/>
          </a:bodyPr>
          <a:lstStyle/>
          <a:p>
            <a:pPr algn="l">
              <a:lnSpc>
                <a:spcPct val="113000"/>
              </a:lnSpc>
              <a:spcBef>
                <a:spcPts val="0"/>
              </a:spcBef>
              <a:spcAft>
                <a:spcPts val="0"/>
              </a:spcAft>
            </a:pPr>
            <a:r>
              <a:rPr sz="2500" b="1" lang="vi-VN">
                <a:solidFill>
                  <a:srgbClr val="B52033"/>
                </a:solidFill>
                <a:latin typeface="Arial"/>
              </a:rPr>
              <a:t>01</a:t>
            </a:r>
          </a:p>
        </p:txBody>
      </p:sp>
      <p:sp>
        <p:nvSpPr>
          <p:cNvPr id="15" name="TextBox 14"/>
          <p:cNvSpPr txBox="1"/>
          <p:nvPr/>
        </p:nvSpPr>
        <p:spPr>
          <a:xfrm>
            <a:off x="6848856" y="2240280"/>
            <a:ext cx="457200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300" b="1" lang="vi-VN">
                <a:solidFill>
                  <a:srgbClr val="192A39"/>
                </a:solidFill>
                <a:latin typeface="Arial"/>
              </a:rPr>
              <a:t>Sửa có chọn lọc</a:t>
            </a:r>
          </a:p>
        </p:txBody>
      </p:sp>
      <p:sp>
        <p:nvSpPr>
          <p:cNvPr id="16" name="TextBox 15"/>
          <p:cNvSpPr txBox="1"/>
          <p:nvPr/>
        </p:nvSpPr>
        <p:spPr>
          <a:xfrm>
            <a:off x="6848856" y="2715768"/>
            <a:ext cx="4572000" cy="484632"/>
          </a:xfrm>
          <a:prstGeom prst="rect">
            <a:avLst/>
          </a:prstGeom>
          <a:noFill/>
          <a:effectLst/>
        </p:spPr>
        <p:txBody>
          <a:bodyPr wrap="square" lIns="0" rIns="0" tIns="0" bIns="0" anchor="t">
            <a:spAutoFit/>
          </a:bodyPr>
          <a:lstStyle/>
          <a:p>
            <a:pPr algn="l">
              <a:lnSpc>
                <a:spcPct val="113000"/>
              </a:lnSpc>
              <a:spcBef>
                <a:spcPts val="0"/>
              </a:spcBef>
              <a:spcAft>
                <a:spcPts val="0"/>
              </a:spcAft>
            </a:pPr>
            <a:r>
              <a:rPr sz="1800" b="0" lang="vi-VN">
                <a:solidFill>
                  <a:srgbClr val="596A77"/>
                </a:solidFill>
                <a:latin typeface="Arial"/>
              </a:rPr>
              <a:t>Chỉ can thiệp phần có thể sửa.</a:t>
            </a:r>
          </a:p>
        </p:txBody>
      </p:sp>
      <p:sp>
        <p:nvSpPr>
          <p:cNvPr id="17" name="TextBox 16"/>
          <p:cNvSpPr txBox="1"/>
          <p:nvPr/>
        </p:nvSpPr>
        <p:spPr>
          <a:xfrm>
            <a:off x="6080760" y="3447288"/>
            <a:ext cx="594360" cy="429768"/>
          </a:xfrm>
          <a:prstGeom prst="rect">
            <a:avLst/>
          </a:prstGeom>
          <a:noFill/>
          <a:effectLst/>
        </p:spPr>
        <p:txBody>
          <a:bodyPr wrap="square" lIns="0" rIns="0" tIns="0" bIns="0" anchor="t">
            <a:spAutoFit/>
          </a:bodyPr>
          <a:lstStyle/>
          <a:p>
            <a:pPr algn="l">
              <a:lnSpc>
                <a:spcPct val="113000"/>
              </a:lnSpc>
              <a:spcBef>
                <a:spcPts val="0"/>
              </a:spcBef>
              <a:spcAft>
                <a:spcPts val="0"/>
              </a:spcAft>
            </a:pPr>
            <a:r>
              <a:rPr sz="2500" b="1" lang="vi-VN">
                <a:solidFill>
                  <a:srgbClr val="B52033"/>
                </a:solidFill>
                <a:latin typeface="Arial"/>
              </a:rPr>
              <a:t>02</a:t>
            </a:r>
          </a:p>
        </p:txBody>
      </p:sp>
      <p:sp>
        <p:nvSpPr>
          <p:cNvPr id="18" name="TextBox 17"/>
          <p:cNvSpPr txBox="1"/>
          <p:nvPr/>
        </p:nvSpPr>
        <p:spPr>
          <a:xfrm>
            <a:off x="6848856" y="3447288"/>
            <a:ext cx="457200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300" b="1" lang="vi-VN">
                <a:solidFill>
                  <a:srgbClr val="192A39"/>
                </a:solidFill>
                <a:latin typeface="Arial"/>
              </a:rPr>
              <a:t>Giải thích phần giữ lại</a:t>
            </a:r>
          </a:p>
        </p:txBody>
      </p:sp>
      <p:sp>
        <p:nvSpPr>
          <p:cNvPr id="19" name="TextBox 18"/>
          <p:cNvSpPr txBox="1"/>
          <p:nvPr/>
        </p:nvSpPr>
        <p:spPr>
          <a:xfrm>
            <a:off x="6848856" y="3922776"/>
            <a:ext cx="4572000" cy="484632"/>
          </a:xfrm>
          <a:prstGeom prst="rect">
            <a:avLst/>
          </a:prstGeom>
          <a:noFill/>
          <a:effectLst/>
        </p:spPr>
        <p:txBody>
          <a:bodyPr wrap="square" lIns="0" rIns="0" tIns="0" bIns="0" anchor="t">
            <a:spAutoFit/>
          </a:bodyPr>
          <a:lstStyle/>
          <a:p>
            <a:pPr algn="l">
              <a:lnSpc>
                <a:spcPct val="113000"/>
              </a:lnSpc>
              <a:spcBef>
                <a:spcPts val="0"/>
              </a:spcBef>
              <a:spcAft>
                <a:spcPts val="0"/>
              </a:spcAft>
            </a:pPr>
            <a:r>
              <a:rPr sz="1800" b="0" lang="vi-VN">
                <a:solidFill>
                  <a:srgbClr val="596A77"/>
                </a:solidFill>
                <a:latin typeface="Arial"/>
              </a:rPr>
              <a:t>Không báo đã sửa toàn bộ.</a:t>
            </a:r>
          </a:p>
        </p:txBody>
      </p:sp>
      <p:sp>
        <p:nvSpPr>
          <p:cNvPr id="20" name="TextBox 19"/>
          <p:cNvSpPr txBox="1"/>
          <p:nvPr/>
        </p:nvSpPr>
        <p:spPr>
          <a:xfrm>
            <a:off x="6080760" y="4654296"/>
            <a:ext cx="594360" cy="429768"/>
          </a:xfrm>
          <a:prstGeom prst="rect">
            <a:avLst/>
          </a:prstGeom>
          <a:noFill/>
          <a:effectLst/>
        </p:spPr>
        <p:txBody>
          <a:bodyPr wrap="square" lIns="0" rIns="0" tIns="0" bIns="0" anchor="t">
            <a:spAutoFit/>
          </a:bodyPr>
          <a:lstStyle/>
          <a:p>
            <a:pPr algn="l">
              <a:lnSpc>
                <a:spcPct val="113000"/>
              </a:lnSpc>
              <a:spcBef>
                <a:spcPts val="0"/>
              </a:spcBef>
              <a:spcAft>
                <a:spcPts val="0"/>
              </a:spcAft>
            </a:pPr>
            <a:r>
              <a:rPr sz="2500" b="1" lang="vi-VN">
                <a:solidFill>
                  <a:srgbClr val="B52033"/>
                </a:solidFill>
                <a:latin typeface="Arial"/>
              </a:rPr>
              <a:t>03</a:t>
            </a:r>
          </a:p>
        </p:txBody>
      </p:sp>
      <p:sp>
        <p:nvSpPr>
          <p:cNvPr id="21" name="TextBox 20"/>
          <p:cNvSpPr txBox="1"/>
          <p:nvPr/>
        </p:nvSpPr>
        <p:spPr>
          <a:xfrm>
            <a:off x="6848856" y="4654296"/>
            <a:ext cx="457200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300" b="1" lang="vi-VN">
                <a:solidFill>
                  <a:srgbClr val="192A39"/>
                </a:solidFill>
                <a:latin typeface="Arial"/>
              </a:rPr>
              <a:t>Chặn kết quả vi phạm</a:t>
            </a:r>
          </a:p>
        </p:txBody>
      </p:sp>
      <p:sp>
        <p:nvSpPr>
          <p:cNvPr id="22" name="TextBox 21"/>
          <p:cNvSpPr txBox="1"/>
          <p:nvPr/>
        </p:nvSpPr>
        <p:spPr>
          <a:xfrm>
            <a:off x="6848856" y="5129783"/>
            <a:ext cx="4572000" cy="484632"/>
          </a:xfrm>
          <a:prstGeom prst="rect">
            <a:avLst/>
          </a:prstGeom>
          <a:noFill/>
          <a:effectLst/>
        </p:spPr>
        <p:txBody>
          <a:bodyPr wrap="square" lIns="0" rIns="0" tIns="0" bIns="0" anchor="t">
            <a:spAutoFit/>
          </a:bodyPr>
          <a:lstStyle/>
          <a:p>
            <a:pPr algn="l">
              <a:lnSpc>
                <a:spcPct val="113000"/>
              </a:lnSpc>
              <a:spcBef>
                <a:spcPts val="0"/>
              </a:spcBef>
              <a:spcAft>
                <a:spcPts val="0"/>
              </a:spcAft>
            </a:pPr>
            <a:r>
              <a:rPr sz="1800" b="0" lang="vi-VN">
                <a:solidFill>
                  <a:srgbClr val="596A77"/>
                </a:solidFill>
                <a:latin typeface="Arial"/>
              </a:rPr>
              <a:t>Đối chiếu trước khi công bố tệp.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B52033"/>
                </a:solidFill>
                <a:latin typeface="Arial"/>
              </a:rPr>
              <a:t>08  /  CÁCH HỆ THỐNG VẬN HÀNH</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Bên trong: ba lớp, một nguyên tắc.</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DOCLINT  /  BÁO CÁO CUỐI KỲ</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10 / 13</a:t>
            </a:r>
          </a:p>
        </p:txBody>
      </p:sp>
      <p:sp>
        <p:nvSpPr>
          <p:cNvPr id="7" name="Rectangle 6"/>
          <p:cNvSpPr/>
          <p:nvPr/>
        </p:nvSpPr>
        <p:spPr>
          <a:xfrm>
            <a:off x="0" y="6821424"/>
            <a:ext cx="9378461" cy="36576"/>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530352" y="2514600"/>
            <a:ext cx="3611880" cy="2350008"/>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952" y="2862072"/>
            <a:ext cx="3154680" cy="429768"/>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B52033"/>
                </a:solidFill>
                <a:latin typeface="Arial"/>
              </a:rPr>
              <a:t>NHẬN DIỆN</a:t>
            </a:r>
          </a:p>
        </p:txBody>
      </p:sp>
      <p:sp>
        <p:nvSpPr>
          <p:cNvPr id="10" name="TextBox 9"/>
          <p:cNvSpPr txBox="1"/>
          <p:nvPr/>
        </p:nvSpPr>
        <p:spPr>
          <a:xfrm>
            <a:off x="758952" y="3694176"/>
            <a:ext cx="3154680" cy="786384"/>
          </a:xfrm>
          <a:prstGeom prst="rect">
            <a:avLst/>
          </a:prstGeom>
          <a:noFill/>
          <a:effectLst/>
        </p:spPr>
        <p:txBody>
          <a:bodyPr wrap="square" lIns="0" rIns="0" tIns="0" bIns="0" anchor="t">
            <a:spAutoFit/>
          </a:bodyPr>
          <a:lstStyle/>
          <a:p>
            <a:pPr algn="l">
              <a:lnSpc>
                <a:spcPct val="113000"/>
              </a:lnSpc>
              <a:spcBef>
                <a:spcPts val="0"/>
              </a:spcBef>
              <a:spcAft>
                <a:spcPts val="0"/>
              </a:spcAft>
            </a:pPr>
            <a:r>
              <a:rPr sz="1900" b="0" lang="vi-VN">
                <a:solidFill>
                  <a:srgbClr val="596A77"/>
                </a:solidFill>
                <a:latin typeface="Arial"/>
              </a:rPr>
              <a:t>Đọc cấu trúc, vai trò</a:t>
            </a:r>
          </a:p>
          <a:p>
            <a:pPr algn="l">
              <a:lnSpc>
                <a:spcPct val="113000"/>
              </a:lnSpc>
              <a:spcBef>
                <a:spcPts val="0"/>
              </a:spcBef>
              <a:spcAft>
                <a:spcPts val="0"/>
              </a:spcAft>
            </a:pPr>
            <a:r>
              <a:rPr sz="1900" b="0" lang="vi-VN">
                <a:solidFill>
                  <a:srgbClr val="596A77"/>
                </a:solidFill>
                <a:latin typeface="Arial"/>
              </a:rPr>
              <a:t>và vùng cần bảo vệ.</a:t>
            </a:r>
          </a:p>
        </p:txBody>
      </p:sp>
      <p:sp>
        <p:nvSpPr>
          <p:cNvPr id="11" name="Rounded Rectangle 10"/>
          <p:cNvSpPr/>
          <p:nvPr/>
        </p:nvSpPr>
        <p:spPr>
          <a:xfrm>
            <a:off x="4334256" y="2514600"/>
            <a:ext cx="3611880" cy="2350008"/>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562856" y="2862072"/>
            <a:ext cx="3154680" cy="429768"/>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B52033"/>
                </a:solidFill>
                <a:latin typeface="Arial"/>
              </a:rPr>
              <a:t>SỬA CÓ ĐIỀU KIỆN</a:t>
            </a:r>
          </a:p>
        </p:txBody>
      </p:sp>
      <p:sp>
        <p:nvSpPr>
          <p:cNvPr id="13" name="TextBox 12"/>
          <p:cNvSpPr txBox="1"/>
          <p:nvPr/>
        </p:nvSpPr>
        <p:spPr>
          <a:xfrm>
            <a:off x="4562856" y="3694176"/>
            <a:ext cx="3154680" cy="786384"/>
          </a:xfrm>
          <a:prstGeom prst="rect">
            <a:avLst/>
          </a:prstGeom>
          <a:noFill/>
          <a:effectLst/>
        </p:spPr>
        <p:txBody>
          <a:bodyPr wrap="square" lIns="0" rIns="0" tIns="0" bIns="0" anchor="t">
            <a:spAutoFit/>
          </a:bodyPr>
          <a:lstStyle/>
          <a:p>
            <a:pPr algn="l">
              <a:lnSpc>
                <a:spcPct val="113000"/>
              </a:lnSpc>
              <a:spcBef>
                <a:spcPts val="0"/>
              </a:spcBef>
              <a:spcAft>
                <a:spcPts val="0"/>
              </a:spcAft>
            </a:pPr>
            <a:r>
              <a:rPr sz="1900" b="0" lang="vi-VN">
                <a:solidFill>
                  <a:srgbClr val="596A77"/>
                </a:solidFill>
                <a:latin typeface="Arial"/>
              </a:rPr>
              <a:t>Theo quy tắc và</a:t>
            </a:r>
          </a:p>
          <a:p>
            <a:pPr algn="l">
              <a:lnSpc>
                <a:spcPct val="113000"/>
              </a:lnSpc>
              <a:spcBef>
                <a:spcPts val="0"/>
              </a:spcBef>
              <a:spcAft>
                <a:spcPts val="0"/>
              </a:spcAft>
            </a:pPr>
            <a:r>
              <a:rPr sz="1900" b="0" lang="vi-VN">
                <a:solidFill>
                  <a:srgbClr val="596A77"/>
                </a:solidFill>
                <a:latin typeface="Arial"/>
              </a:rPr>
              <a:t>lựa chọn của người dùng.</a:t>
            </a:r>
          </a:p>
        </p:txBody>
      </p:sp>
      <p:sp>
        <p:nvSpPr>
          <p:cNvPr id="14" name="Rounded Rectangle 13"/>
          <p:cNvSpPr/>
          <p:nvPr/>
        </p:nvSpPr>
        <p:spPr>
          <a:xfrm>
            <a:off x="8138160" y="2514600"/>
            <a:ext cx="3611880" cy="2350008"/>
          </a:xfrm>
          <a:prstGeom prst="roundRect">
            <a:avLst>
              <a:gd name="adj" fmla="val 8000"/>
            </a:avLst>
          </a:prstGeom>
          <a:solidFill>
            <a:srgbClr val="142A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366760" y="2862072"/>
            <a:ext cx="3154680" cy="429768"/>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FFFFFF"/>
                </a:solidFill>
                <a:latin typeface="Arial"/>
              </a:rPr>
              <a:t>ĐỐI CHIẾU</a:t>
            </a:r>
          </a:p>
        </p:txBody>
      </p:sp>
      <p:sp>
        <p:nvSpPr>
          <p:cNvPr id="16" name="TextBox 15"/>
          <p:cNvSpPr txBox="1"/>
          <p:nvPr/>
        </p:nvSpPr>
        <p:spPr>
          <a:xfrm>
            <a:off x="8366760" y="3694176"/>
            <a:ext cx="3154680" cy="786384"/>
          </a:xfrm>
          <a:prstGeom prst="rect">
            <a:avLst/>
          </a:prstGeom>
          <a:noFill/>
          <a:effectLst/>
        </p:spPr>
        <p:txBody>
          <a:bodyPr wrap="square" lIns="0" rIns="0" tIns="0" bIns="0" anchor="t">
            <a:spAutoFit/>
          </a:bodyPr>
          <a:lstStyle/>
          <a:p>
            <a:pPr algn="l">
              <a:lnSpc>
                <a:spcPct val="113000"/>
              </a:lnSpc>
              <a:spcBef>
                <a:spcPts val="0"/>
              </a:spcBef>
              <a:spcAft>
                <a:spcPts val="0"/>
              </a:spcAft>
            </a:pPr>
            <a:r>
              <a:rPr sz="1900" b="0" lang="vi-VN">
                <a:solidFill>
                  <a:srgbClr val="FFFFFF"/>
                </a:solidFill>
                <a:latin typeface="Arial"/>
              </a:rPr>
              <a:t>Kiểm tra nội dung, đối tượng</a:t>
            </a:r>
          </a:p>
          <a:p>
            <a:pPr algn="l">
              <a:lnSpc>
                <a:spcPct val="113000"/>
              </a:lnSpc>
              <a:spcBef>
                <a:spcPts val="0"/>
              </a:spcBef>
              <a:spcAft>
                <a:spcPts val="0"/>
              </a:spcAft>
            </a:pPr>
            <a:r>
              <a:rPr sz="1900" b="0" lang="vi-VN">
                <a:solidFill>
                  <a:srgbClr val="FFFFFF"/>
                </a:solidFill>
                <a:latin typeface="Arial"/>
              </a:rPr>
              <a:t>và vùng phải giữ nguyên.</a:t>
            </a:r>
          </a:p>
        </p:txBody>
      </p:sp>
      <p:sp>
        <p:nvSpPr>
          <p:cNvPr id="17" name="TextBox 16"/>
          <p:cNvSpPr txBox="1"/>
          <p:nvPr/>
        </p:nvSpPr>
        <p:spPr>
          <a:xfrm>
            <a:off x="576072" y="5404104"/>
            <a:ext cx="10972800" cy="365760"/>
          </a:xfrm>
          <a:prstGeom prst="rect">
            <a:avLst/>
          </a:prstGeom>
          <a:noFill/>
          <a:effectLst/>
        </p:spPr>
        <p:txBody>
          <a:bodyPr wrap="square" lIns="0" rIns="0" tIns="0" bIns="0" anchor="t">
            <a:spAutoFit/>
          </a:bodyPr>
          <a:lstStyle/>
          <a:p>
            <a:pPr algn="ctr">
              <a:lnSpc>
                <a:spcPct val="113000"/>
              </a:lnSpc>
              <a:spcBef>
                <a:spcPts val="0"/>
              </a:spcBef>
              <a:spcAft>
                <a:spcPts val="0"/>
              </a:spcAft>
            </a:pPr>
            <a:r>
              <a:rPr sz="1800" b="0" lang="vi-VN">
                <a:solidFill>
                  <a:srgbClr val="596A77"/>
                </a:solidFill>
                <a:latin typeface="Arial"/>
              </a:rPr>
              <a:t>Công nghệ hỗ trợ: Python · FastAPI · OOXML · LibreOffice/PDFium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B52033"/>
                </a:solidFill>
                <a:latin typeface="Arial"/>
              </a:rPr>
              <a:t>09  /  KIỂM THỬ VÀ ĐÁNH GIÁ</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Kết quả có bằng chứng, giới hạn nói rõ.</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DOCLINT  /  BÁO CÁO CUỐI KỲ</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11 / 13</a:t>
            </a:r>
          </a:p>
        </p:txBody>
      </p:sp>
      <p:sp>
        <p:nvSpPr>
          <p:cNvPr id="7" name="TextBox 6"/>
          <p:cNvSpPr txBox="1"/>
          <p:nvPr/>
        </p:nvSpPr>
        <p:spPr>
          <a:xfrm>
            <a:off x="548640" y="5989320"/>
            <a:ext cx="11109960" cy="274320"/>
          </a:xfrm>
          <a:prstGeom prst="rect">
            <a:avLst/>
          </a:prstGeom>
          <a:noFill/>
          <a:effectLst/>
        </p:spPr>
        <p:txBody>
          <a:bodyPr wrap="square" lIns="0" rIns="0" tIns="0" bIns="0" anchor="t">
            <a:spAutoFit/>
          </a:bodyPr>
          <a:lstStyle/>
          <a:p>
            <a:pPr algn="l">
              <a:lnSpc>
                <a:spcPct val="100000"/>
              </a:lnSpc>
              <a:spcBef>
                <a:spcPts val="0"/>
              </a:spcBef>
              <a:spcAft>
                <a:spcPts val="0"/>
              </a:spcAft>
            </a:pPr>
            <a:r>
              <a:rPr sz="930" b="0" lang="vi-VN">
                <a:solidFill>
                  <a:srgbClr val="596A77"/>
                </a:solidFill>
                <a:latin typeface="Arial"/>
              </a:rPr>
              <a:t>Nguồn: báo cáo cuối kỳ, Chương 7; mốc lõi b0957f2. Kiểm thử Linux/Chromium không thay thế kiểm chứng Word/Windows.</a:t>
            </a:r>
          </a:p>
        </p:txBody>
      </p:sp>
      <p:sp>
        <p:nvSpPr>
          <p:cNvPr id="8" name="Rectangle 7"/>
          <p:cNvSpPr/>
          <p:nvPr/>
        </p:nvSpPr>
        <p:spPr>
          <a:xfrm>
            <a:off x="0" y="6821424"/>
            <a:ext cx="10316307" cy="36576"/>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530352" y="2057400"/>
            <a:ext cx="4846320" cy="3602736"/>
          </a:xfrm>
          <a:prstGeom prst="roundRect">
            <a:avLst>
              <a:gd name="adj" fmla="val 8000"/>
            </a:avLst>
          </a:prstGeom>
          <a:solidFill>
            <a:srgbClr val="142A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50392" y="2350008"/>
            <a:ext cx="4224528" cy="1133856"/>
          </a:xfrm>
          <a:prstGeom prst="rect">
            <a:avLst/>
          </a:prstGeom>
          <a:noFill/>
          <a:effectLst/>
        </p:spPr>
        <p:txBody>
          <a:bodyPr wrap="square" lIns="0" rIns="0" tIns="0" bIns="0" anchor="t">
            <a:spAutoFit/>
          </a:bodyPr>
          <a:lstStyle/>
          <a:p>
            <a:pPr algn="l">
              <a:lnSpc>
                <a:spcPct val="113000"/>
              </a:lnSpc>
              <a:spcBef>
                <a:spcPts val="0"/>
              </a:spcBef>
              <a:spcAft>
                <a:spcPts val="0"/>
              </a:spcAft>
            </a:pPr>
            <a:r>
              <a:rPr sz="8200" b="1" lang="vi-VN">
                <a:solidFill>
                  <a:srgbClr val="FFFFFF"/>
                </a:solidFill>
                <a:latin typeface="Arial"/>
              </a:rPr>
              <a:t>155</a:t>
            </a:r>
          </a:p>
        </p:txBody>
      </p:sp>
      <p:sp>
        <p:nvSpPr>
          <p:cNvPr id="11" name="TextBox 10"/>
          <p:cNvSpPr txBox="1"/>
          <p:nvPr/>
        </p:nvSpPr>
        <p:spPr>
          <a:xfrm>
            <a:off x="896112" y="3703320"/>
            <a:ext cx="4133087" cy="502920"/>
          </a:xfrm>
          <a:prstGeom prst="rect">
            <a:avLst/>
          </a:prstGeom>
          <a:noFill/>
          <a:effectLst/>
        </p:spPr>
        <p:txBody>
          <a:bodyPr wrap="square" lIns="0" rIns="0" tIns="0" bIns="0" anchor="t">
            <a:spAutoFit/>
          </a:bodyPr>
          <a:lstStyle/>
          <a:p>
            <a:pPr algn="l">
              <a:lnSpc>
                <a:spcPct val="113000"/>
              </a:lnSpc>
              <a:spcBef>
                <a:spcPts val="0"/>
              </a:spcBef>
              <a:spcAft>
                <a:spcPts val="0"/>
              </a:spcAft>
            </a:pPr>
            <a:r>
              <a:rPr sz="2500" b="1" lang="vi-VN">
                <a:solidFill>
                  <a:srgbClr val="FFFFFF"/>
                </a:solidFill>
                <a:latin typeface="Arial"/>
              </a:rPr>
              <a:t>ca kiểm thử tự động đạt</a:t>
            </a:r>
          </a:p>
        </p:txBody>
      </p:sp>
      <p:sp>
        <p:nvSpPr>
          <p:cNvPr id="12" name="TextBox 11"/>
          <p:cNvSpPr txBox="1"/>
          <p:nvPr/>
        </p:nvSpPr>
        <p:spPr>
          <a:xfrm>
            <a:off x="896112" y="4517136"/>
            <a:ext cx="4133087" cy="795528"/>
          </a:xfrm>
          <a:prstGeom prst="rect">
            <a:avLst/>
          </a:prstGeom>
          <a:noFill/>
          <a:effectLst/>
        </p:spPr>
        <p:txBody>
          <a:bodyPr wrap="square" lIns="0" rIns="0" tIns="0" bIns="0" anchor="t">
            <a:spAutoFit/>
          </a:bodyPr>
          <a:lstStyle/>
          <a:p>
            <a:pPr algn="l">
              <a:lnSpc>
                <a:spcPct val="113000"/>
              </a:lnSpc>
              <a:spcBef>
                <a:spcPts val="0"/>
              </a:spcBef>
              <a:spcAft>
                <a:spcPts val="0"/>
              </a:spcAft>
            </a:pPr>
            <a:r>
              <a:rPr sz="1900" b="0" lang="vi-VN">
                <a:solidFill>
                  <a:srgbClr val="FFFFFF"/>
                </a:solidFill>
                <a:latin typeface="Arial"/>
              </a:rPr>
              <a:t>Cùng bộ kiểm thử trên</a:t>
            </a:r>
          </a:p>
          <a:p>
            <a:pPr algn="l">
              <a:lnSpc>
                <a:spcPct val="113000"/>
              </a:lnSpc>
              <a:spcBef>
                <a:spcPts val="0"/>
              </a:spcBef>
              <a:spcAft>
                <a:spcPts val="0"/>
              </a:spcAft>
            </a:pPr>
            <a:r>
              <a:rPr sz="1900" b="0" lang="vi-VN">
                <a:solidFill>
                  <a:srgbClr val="FFFFFF"/>
                </a:solidFill>
                <a:latin typeface="Arial"/>
              </a:rPr>
              <a:t>Python 3.12 và 3.14 · Linux</a:t>
            </a:r>
          </a:p>
        </p:txBody>
      </p:sp>
      <p:sp>
        <p:nvSpPr>
          <p:cNvPr id="13" name="TextBox 12"/>
          <p:cNvSpPr txBox="1"/>
          <p:nvPr/>
        </p:nvSpPr>
        <p:spPr>
          <a:xfrm>
            <a:off x="5961888" y="2221992"/>
            <a:ext cx="539496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300" b="1" lang="vi-VN">
                <a:solidFill>
                  <a:srgbClr val="0B796B"/>
                </a:solidFill>
                <a:latin typeface="Arial"/>
              </a:rPr>
              <a:t>Đã có</a:t>
            </a:r>
          </a:p>
        </p:txBody>
      </p:sp>
      <p:sp>
        <p:nvSpPr>
          <p:cNvPr id="14" name="TextBox 13"/>
          <p:cNvSpPr txBox="1"/>
          <p:nvPr/>
        </p:nvSpPr>
        <p:spPr>
          <a:xfrm>
            <a:off x="5961888" y="2816352"/>
            <a:ext cx="5394960" cy="932688"/>
          </a:xfrm>
          <a:prstGeom prst="rect">
            <a:avLst/>
          </a:prstGeom>
          <a:noFill/>
          <a:effectLst/>
        </p:spPr>
        <p:txBody>
          <a:bodyPr wrap="square" lIns="0" rIns="0" tIns="0" bIns="0" anchor="t">
            <a:spAutoFit/>
          </a:bodyPr>
          <a:lstStyle/>
          <a:p>
            <a:pPr algn="l">
              <a:lnSpc>
                <a:spcPct val="120000"/>
              </a:lnSpc>
              <a:spcBef>
                <a:spcPts val="0"/>
              </a:spcBef>
              <a:spcAft>
                <a:spcPts val="0"/>
              </a:spcAft>
            </a:pPr>
            <a:r>
              <a:rPr sz="2200" b="0" lang="vi-VN">
                <a:solidFill>
                  <a:srgbClr val="192A39"/>
                </a:solidFill>
                <a:latin typeface="Arial"/>
              </a:rPr>
              <a:t>Luồng web, nhóm duyệt, bìa,</a:t>
            </a:r>
          </a:p>
          <a:p>
            <a:pPr algn="l">
              <a:lnSpc>
                <a:spcPct val="120000"/>
              </a:lnSpc>
              <a:spcBef>
                <a:spcPts val="0"/>
              </a:spcBef>
              <a:spcAft>
                <a:spcPts val="0"/>
              </a:spcAft>
            </a:pPr>
            <a:r>
              <a:rPr sz="2200" b="0" lang="vi-VN">
                <a:solidFill>
                  <a:srgbClr val="192A39"/>
                </a:solidFill>
                <a:latin typeface="Arial"/>
              </a:rPr>
              <a:t>bảo vệ vùng và đối chiếu kết quả.</a:t>
            </a:r>
          </a:p>
        </p:txBody>
      </p:sp>
      <p:sp>
        <p:nvSpPr>
          <p:cNvPr id="15" name="TextBox 14"/>
          <p:cNvSpPr txBox="1"/>
          <p:nvPr/>
        </p:nvSpPr>
        <p:spPr>
          <a:xfrm>
            <a:off x="5961888" y="3913632"/>
            <a:ext cx="539496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300" b="1" lang="vi-VN">
                <a:solidFill>
                  <a:srgbClr val="B52033"/>
                </a:solidFill>
                <a:latin typeface="Arial"/>
              </a:rPr>
              <a:t>Cần kiểm chứng tiếp</a:t>
            </a:r>
          </a:p>
        </p:txBody>
      </p:sp>
      <p:sp>
        <p:nvSpPr>
          <p:cNvPr id="16" name="TextBox 15"/>
          <p:cNvSpPr txBox="1"/>
          <p:nvPr/>
        </p:nvSpPr>
        <p:spPr>
          <a:xfrm>
            <a:off x="5961888" y="4507992"/>
            <a:ext cx="5394960" cy="932688"/>
          </a:xfrm>
          <a:prstGeom prst="rect">
            <a:avLst/>
          </a:prstGeom>
          <a:noFill/>
          <a:effectLst/>
        </p:spPr>
        <p:txBody>
          <a:bodyPr wrap="square" lIns="0" rIns="0" tIns="0" bIns="0" anchor="t">
            <a:spAutoFit/>
          </a:bodyPr>
          <a:lstStyle/>
          <a:p>
            <a:pPr algn="l">
              <a:lnSpc>
                <a:spcPct val="120000"/>
              </a:lnSpc>
              <a:spcBef>
                <a:spcPts val="0"/>
              </a:spcBef>
              <a:spcAft>
                <a:spcPts val="0"/>
              </a:spcAft>
            </a:pPr>
            <a:r>
              <a:rPr sz="2200" b="0" lang="vi-VN">
                <a:solidFill>
                  <a:srgbClr val="192A39"/>
                </a:solidFill>
                <a:latin typeface="Arial"/>
              </a:rPr>
              <a:t>Word và cập nhật mục lục;</a:t>
            </a:r>
          </a:p>
          <a:p>
            <a:pPr algn="l">
              <a:lnSpc>
                <a:spcPct val="120000"/>
              </a:lnSpc>
              <a:spcBef>
                <a:spcPts val="0"/>
              </a:spcBef>
              <a:spcAft>
                <a:spcPts val="0"/>
              </a:spcAft>
            </a:pPr>
            <a:r>
              <a:rPr sz="2200" b="0" lang="vi-VN">
                <a:solidFill>
                  <a:srgbClr val="192A39"/>
                </a:solidFill>
                <a:latin typeface="Arial"/>
              </a:rPr>
              <a:t>đo thời gian và trải nghiệm thực tế.</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B52033"/>
                </a:solidFill>
                <a:latin typeface="Arial"/>
              </a:rPr>
              <a:t>10  /  TỔ CHỨC VÀ LỘ TRÌNH</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15 tuần, hai người, một sản phẩm bàn giao.</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DOCLINT  /  BÁO CÁO CUỐI KỲ</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12 / 13</a:t>
            </a:r>
          </a:p>
        </p:txBody>
      </p:sp>
      <p:sp>
        <p:nvSpPr>
          <p:cNvPr id="7" name="TextBox 6"/>
          <p:cNvSpPr txBox="1"/>
          <p:nvPr/>
        </p:nvSpPr>
        <p:spPr>
          <a:xfrm>
            <a:off x="548640" y="5989320"/>
            <a:ext cx="11109960" cy="274320"/>
          </a:xfrm>
          <a:prstGeom prst="rect">
            <a:avLst/>
          </a:prstGeom>
          <a:noFill/>
          <a:effectLst/>
        </p:spPr>
        <p:txBody>
          <a:bodyPr wrap="square" lIns="0" rIns="0" tIns="0" bIns="0" anchor="t">
            <a:spAutoFit/>
          </a:bodyPr>
          <a:lstStyle/>
          <a:p>
            <a:pPr algn="l">
              <a:lnSpc>
                <a:spcPct val="100000"/>
              </a:lnSpc>
              <a:spcBef>
                <a:spcPts val="0"/>
              </a:spcBef>
              <a:spcAft>
                <a:spcPts val="0"/>
              </a:spcAft>
            </a:pPr>
            <a:r>
              <a:rPr sz="930" b="0" lang="vi-VN">
                <a:solidFill>
                  <a:srgbClr val="596A77"/>
                </a:solidFill>
                <a:latin typeface="Arial"/>
              </a:rPr>
              <a:t>Tuần 1–5: căn cứ báo cáo tiến độ. Tuần 6–15: lộ trình hoàn thiện/nghiệm thu; không khẳng định mọi tuần đã thực hiện.</a:t>
            </a:r>
          </a:p>
        </p:txBody>
      </p:sp>
      <p:sp>
        <p:nvSpPr>
          <p:cNvPr id="8" name="Rectangle 7"/>
          <p:cNvSpPr/>
          <p:nvPr/>
        </p:nvSpPr>
        <p:spPr>
          <a:xfrm>
            <a:off x="0" y="6821424"/>
            <a:ext cx="11254153" cy="36576"/>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960120" y="2331720"/>
            <a:ext cx="10104120" cy="0"/>
          </a:xfrm>
          <a:prstGeom prst="line">
            <a:avLst/>
          </a:prstGeom>
          <a:ln w="5080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10" name="Oval 9"/>
          <p:cNvSpPr/>
          <p:nvPr/>
        </p:nvSpPr>
        <p:spPr>
          <a:xfrm>
            <a:off x="640080" y="2084831"/>
            <a:ext cx="493776" cy="493776"/>
          </a:xfrm>
          <a:prstGeom prst="ellipse">
            <a:avLst/>
          </a:prstGeom>
          <a:solidFill>
            <a:srgbClr val="596A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30352" y="2761488"/>
            <a:ext cx="2112264" cy="310896"/>
          </a:xfrm>
          <a:prstGeom prst="rect">
            <a:avLst/>
          </a:prstGeom>
          <a:noFill/>
          <a:effectLst/>
        </p:spPr>
        <p:txBody>
          <a:bodyPr wrap="square" lIns="0" rIns="0" tIns="0" bIns="0" anchor="t">
            <a:spAutoFit/>
          </a:bodyPr>
          <a:lstStyle/>
          <a:p>
            <a:pPr algn="l">
              <a:lnSpc>
                <a:spcPct val="113000"/>
              </a:lnSpc>
              <a:spcBef>
                <a:spcPts val="0"/>
              </a:spcBef>
              <a:spcAft>
                <a:spcPts val="0"/>
              </a:spcAft>
            </a:pPr>
            <a:r>
              <a:rPr sz="1300" b="1" lang="vi-VN">
                <a:solidFill>
                  <a:srgbClr val="596A77"/>
                </a:solidFill>
                <a:latin typeface="Arial"/>
              </a:rPr>
              <a:t>TUẦN 1–2</a:t>
            </a:r>
          </a:p>
        </p:txBody>
      </p:sp>
      <p:sp>
        <p:nvSpPr>
          <p:cNvPr id="12" name="TextBox 11"/>
          <p:cNvSpPr txBox="1"/>
          <p:nvPr/>
        </p:nvSpPr>
        <p:spPr>
          <a:xfrm>
            <a:off x="530352" y="3273552"/>
            <a:ext cx="2112264" cy="566928"/>
          </a:xfrm>
          <a:prstGeom prst="rect">
            <a:avLst/>
          </a:prstGeom>
          <a:noFill/>
          <a:effectLst/>
        </p:spPr>
        <p:txBody>
          <a:bodyPr wrap="square" lIns="0" rIns="0" tIns="0" bIns="0" anchor="t">
            <a:spAutoFit/>
          </a:bodyPr>
          <a:lstStyle/>
          <a:p>
            <a:pPr algn="l">
              <a:lnSpc>
                <a:spcPct val="113000"/>
              </a:lnSpc>
              <a:spcBef>
                <a:spcPts val="0"/>
              </a:spcBef>
              <a:spcAft>
                <a:spcPts val="0"/>
              </a:spcAft>
            </a:pPr>
            <a:r>
              <a:rPr sz="2000" b="1" lang="vi-VN">
                <a:solidFill>
                  <a:srgbClr val="192A39"/>
                </a:solidFill>
                <a:latin typeface="Arial"/>
              </a:rPr>
              <a:t>Khởi tạo</a:t>
            </a:r>
          </a:p>
        </p:txBody>
      </p:sp>
      <p:sp>
        <p:nvSpPr>
          <p:cNvPr id="13" name="TextBox 12"/>
          <p:cNvSpPr txBox="1"/>
          <p:nvPr/>
        </p:nvSpPr>
        <p:spPr>
          <a:xfrm>
            <a:off x="530352" y="4069080"/>
            <a:ext cx="2112264" cy="868680"/>
          </a:xfrm>
          <a:prstGeom prst="rect">
            <a:avLst/>
          </a:prstGeom>
          <a:noFill/>
          <a:effectLst/>
        </p:spPr>
        <p:txBody>
          <a:bodyPr wrap="square" lIns="0" rIns="0" tIns="0" bIns="0" anchor="t">
            <a:spAutoFit/>
          </a:bodyPr>
          <a:lstStyle/>
          <a:p>
            <a:pPr algn="l">
              <a:lnSpc>
                <a:spcPct val="120000"/>
              </a:lnSpc>
              <a:spcBef>
                <a:spcPts val="0"/>
              </a:spcBef>
              <a:spcAft>
                <a:spcPts val="0"/>
              </a:spcAft>
            </a:pPr>
            <a:r>
              <a:rPr sz="1600" b="0" lang="vi-VN">
                <a:solidFill>
                  <a:srgbClr val="596A77"/>
                </a:solidFill>
                <a:latin typeface="Arial"/>
              </a:rPr>
              <a:t>Hướng ECG</a:t>
            </a:r>
          </a:p>
          <a:p>
            <a:pPr algn="l">
              <a:lnSpc>
                <a:spcPct val="120000"/>
              </a:lnSpc>
              <a:spcBef>
                <a:spcPts val="0"/>
              </a:spcBef>
              <a:spcAft>
                <a:spcPts val="0"/>
              </a:spcAft>
            </a:pPr>
            <a:r>
              <a:rPr sz="1600" b="0" lang="vi-VN">
                <a:solidFill>
                  <a:srgbClr val="596A77"/>
                </a:solidFill>
                <a:latin typeface="Arial"/>
              </a:rPr>
              <a:t>trước khi chuyển đề tài</a:t>
            </a:r>
          </a:p>
        </p:txBody>
      </p:sp>
      <p:sp>
        <p:nvSpPr>
          <p:cNvPr id="14" name="Oval 13"/>
          <p:cNvSpPr/>
          <p:nvPr/>
        </p:nvSpPr>
        <p:spPr>
          <a:xfrm>
            <a:off x="2907792" y="2084831"/>
            <a:ext cx="493776" cy="493776"/>
          </a:xfrm>
          <a:prstGeom prst="ellipse">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798064" y="2761488"/>
            <a:ext cx="2112264" cy="310896"/>
          </a:xfrm>
          <a:prstGeom prst="rect">
            <a:avLst/>
          </a:prstGeom>
          <a:noFill/>
          <a:effectLst/>
        </p:spPr>
        <p:txBody>
          <a:bodyPr wrap="square" lIns="0" rIns="0" tIns="0" bIns="0" anchor="t">
            <a:spAutoFit/>
          </a:bodyPr>
          <a:lstStyle/>
          <a:p>
            <a:pPr algn="l">
              <a:lnSpc>
                <a:spcPct val="113000"/>
              </a:lnSpc>
              <a:spcBef>
                <a:spcPts val="0"/>
              </a:spcBef>
              <a:spcAft>
                <a:spcPts val="0"/>
              </a:spcAft>
            </a:pPr>
            <a:r>
              <a:rPr sz="1300" b="1" lang="vi-VN">
                <a:solidFill>
                  <a:srgbClr val="B52033"/>
                </a:solidFill>
                <a:latin typeface="Arial"/>
              </a:rPr>
              <a:t>TUẦN 3–5</a:t>
            </a:r>
          </a:p>
        </p:txBody>
      </p:sp>
      <p:sp>
        <p:nvSpPr>
          <p:cNvPr id="16" name="TextBox 15"/>
          <p:cNvSpPr txBox="1"/>
          <p:nvPr/>
        </p:nvSpPr>
        <p:spPr>
          <a:xfrm>
            <a:off x="2798064" y="3273552"/>
            <a:ext cx="2112264" cy="566928"/>
          </a:xfrm>
          <a:prstGeom prst="rect">
            <a:avLst/>
          </a:prstGeom>
          <a:noFill/>
          <a:effectLst/>
        </p:spPr>
        <p:txBody>
          <a:bodyPr wrap="square" lIns="0" rIns="0" tIns="0" bIns="0" anchor="t">
            <a:spAutoFit/>
          </a:bodyPr>
          <a:lstStyle/>
          <a:p>
            <a:pPr algn="l">
              <a:lnSpc>
                <a:spcPct val="113000"/>
              </a:lnSpc>
              <a:spcBef>
                <a:spcPts val="0"/>
              </a:spcBef>
              <a:spcAft>
                <a:spcPts val="0"/>
              </a:spcAft>
            </a:pPr>
            <a:r>
              <a:rPr sz="2000" b="1" lang="vi-VN">
                <a:solidFill>
                  <a:srgbClr val="192A39"/>
                </a:solidFill>
                <a:latin typeface="Arial"/>
              </a:rPr>
              <a:t>Chốt DocLint</a:t>
            </a:r>
          </a:p>
        </p:txBody>
      </p:sp>
      <p:sp>
        <p:nvSpPr>
          <p:cNvPr id="17" name="TextBox 16"/>
          <p:cNvSpPr txBox="1"/>
          <p:nvPr/>
        </p:nvSpPr>
        <p:spPr>
          <a:xfrm>
            <a:off x="2798064" y="4069080"/>
            <a:ext cx="2112264" cy="868680"/>
          </a:xfrm>
          <a:prstGeom prst="rect">
            <a:avLst/>
          </a:prstGeom>
          <a:noFill/>
          <a:effectLst/>
        </p:spPr>
        <p:txBody>
          <a:bodyPr wrap="square" lIns="0" rIns="0" tIns="0" bIns="0" anchor="t">
            <a:spAutoFit/>
          </a:bodyPr>
          <a:lstStyle/>
          <a:p>
            <a:pPr algn="l">
              <a:lnSpc>
                <a:spcPct val="120000"/>
              </a:lnSpc>
              <a:spcBef>
                <a:spcPts val="0"/>
              </a:spcBef>
              <a:spcAft>
                <a:spcPts val="0"/>
              </a:spcAft>
            </a:pPr>
            <a:r>
              <a:rPr sz="1600" b="0" lang="vi-VN">
                <a:solidFill>
                  <a:srgbClr val="596A77"/>
                </a:solidFill>
                <a:latin typeface="Arial"/>
              </a:rPr>
              <a:t>Khảo sát · yêu cầu</a:t>
            </a:r>
          </a:p>
          <a:p>
            <a:pPr algn="l">
              <a:lnSpc>
                <a:spcPct val="120000"/>
              </a:lnSpc>
              <a:spcBef>
                <a:spcPts val="0"/>
              </a:spcBef>
              <a:spcAft>
                <a:spcPts val="0"/>
              </a:spcAft>
            </a:pPr>
            <a:r>
              <a:rPr sz="1600" b="0" lang="vi-VN">
                <a:solidFill>
                  <a:srgbClr val="596A77"/>
                </a:solidFill>
                <a:latin typeface="Arial"/>
              </a:rPr>
              <a:t>lõi xử lý ban đầu</a:t>
            </a:r>
          </a:p>
        </p:txBody>
      </p:sp>
      <p:sp>
        <p:nvSpPr>
          <p:cNvPr id="18" name="Oval 17"/>
          <p:cNvSpPr/>
          <p:nvPr/>
        </p:nvSpPr>
        <p:spPr>
          <a:xfrm>
            <a:off x="5175504" y="2084831"/>
            <a:ext cx="493776" cy="493776"/>
          </a:xfrm>
          <a:prstGeom prst="ellipse">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065776" y="2761488"/>
            <a:ext cx="2112264" cy="310896"/>
          </a:xfrm>
          <a:prstGeom prst="rect">
            <a:avLst/>
          </a:prstGeom>
          <a:noFill/>
          <a:effectLst/>
        </p:spPr>
        <p:txBody>
          <a:bodyPr wrap="square" lIns="0" rIns="0" tIns="0" bIns="0" anchor="t">
            <a:spAutoFit/>
          </a:bodyPr>
          <a:lstStyle/>
          <a:p>
            <a:pPr algn="l">
              <a:lnSpc>
                <a:spcPct val="113000"/>
              </a:lnSpc>
              <a:spcBef>
                <a:spcPts val="0"/>
              </a:spcBef>
              <a:spcAft>
                <a:spcPts val="0"/>
              </a:spcAft>
            </a:pPr>
            <a:r>
              <a:rPr sz="1300" b="1" lang="vi-VN">
                <a:solidFill>
                  <a:srgbClr val="B52033"/>
                </a:solidFill>
                <a:latin typeface="Arial"/>
              </a:rPr>
              <a:t>TUẦN 6–8</a:t>
            </a:r>
          </a:p>
        </p:txBody>
      </p:sp>
      <p:sp>
        <p:nvSpPr>
          <p:cNvPr id="20" name="TextBox 19"/>
          <p:cNvSpPr txBox="1"/>
          <p:nvPr/>
        </p:nvSpPr>
        <p:spPr>
          <a:xfrm>
            <a:off x="5065776" y="3273552"/>
            <a:ext cx="2112264" cy="566928"/>
          </a:xfrm>
          <a:prstGeom prst="rect">
            <a:avLst/>
          </a:prstGeom>
          <a:noFill/>
          <a:effectLst/>
        </p:spPr>
        <p:txBody>
          <a:bodyPr wrap="square" lIns="0" rIns="0" tIns="0" bIns="0" anchor="t">
            <a:spAutoFit/>
          </a:bodyPr>
          <a:lstStyle/>
          <a:p>
            <a:pPr algn="l">
              <a:lnSpc>
                <a:spcPct val="113000"/>
              </a:lnSpc>
              <a:spcBef>
                <a:spcPts val="0"/>
              </a:spcBef>
              <a:spcAft>
                <a:spcPts val="0"/>
              </a:spcAft>
            </a:pPr>
            <a:r>
              <a:rPr sz="2000" b="1" lang="vi-VN">
                <a:solidFill>
                  <a:srgbClr val="192A39"/>
                </a:solidFill>
                <a:latin typeface="Arial"/>
              </a:rPr>
              <a:t>Luồng hoàn chỉnh</a:t>
            </a:r>
          </a:p>
        </p:txBody>
      </p:sp>
      <p:sp>
        <p:nvSpPr>
          <p:cNvPr id="21" name="TextBox 20"/>
          <p:cNvSpPr txBox="1"/>
          <p:nvPr/>
        </p:nvSpPr>
        <p:spPr>
          <a:xfrm>
            <a:off x="5065776" y="4069080"/>
            <a:ext cx="2112264" cy="868680"/>
          </a:xfrm>
          <a:prstGeom prst="rect">
            <a:avLst/>
          </a:prstGeom>
          <a:noFill/>
          <a:effectLst/>
        </p:spPr>
        <p:txBody>
          <a:bodyPr wrap="square" lIns="0" rIns="0" tIns="0" bIns="0" anchor="t">
            <a:spAutoFit/>
          </a:bodyPr>
          <a:lstStyle/>
          <a:p>
            <a:pPr algn="l">
              <a:lnSpc>
                <a:spcPct val="120000"/>
              </a:lnSpc>
              <a:spcBef>
                <a:spcPts val="0"/>
              </a:spcBef>
              <a:spcAft>
                <a:spcPts val="0"/>
              </a:spcAft>
            </a:pPr>
            <a:r>
              <a:rPr sz="1600" b="0" lang="vi-VN">
                <a:solidFill>
                  <a:srgbClr val="596A77"/>
                </a:solidFill>
                <a:latin typeface="Arial"/>
              </a:rPr>
              <a:t>Giao diện · đề mục</a:t>
            </a:r>
          </a:p>
          <a:p>
            <a:pPr algn="l">
              <a:lnSpc>
                <a:spcPct val="120000"/>
              </a:lnSpc>
              <a:spcBef>
                <a:spcPts val="0"/>
              </a:spcBef>
              <a:spcAft>
                <a:spcPts val="0"/>
              </a:spcAft>
            </a:pPr>
            <a:r>
              <a:rPr sz="1600" b="0" lang="vi-VN">
                <a:solidFill>
                  <a:srgbClr val="596A77"/>
                </a:solidFill>
                <a:latin typeface="Arial"/>
              </a:rPr>
              <a:t>bìa · bảng và ảnh</a:t>
            </a:r>
          </a:p>
        </p:txBody>
      </p:sp>
      <p:sp>
        <p:nvSpPr>
          <p:cNvPr id="22" name="Oval 21"/>
          <p:cNvSpPr/>
          <p:nvPr/>
        </p:nvSpPr>
        <p:spPr>
          <a:xfrm>
            <a:off x="7443215" y="2084831"/>
            <a:ext cx="493776" cy="493776"/>
          </a:xfrm>
          <a:prstGeom prst="ellipse">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333488" y="2761488"/>
            <a:ext cx="2112264" cy="310896"/>
          </a:xfrm>
          <a:prstGeom prst="rect">
            <a:avLst/>
          </a:prstGeom>
          <a:noFill/>
          <a:effectLst/>
        </p:spPr>
        <p:txBody>
          <a:bodyPr wrap="square" lIns="0" rIns="0" tIns="0" bIns="0" anchor="t">
            <a:spAutoFit/>
          </a:bodyPr>
          <a:lstStyle/>
          <a:p>
            <a:pPr algn="l">
              <a:lnSpc>
                <a:spcPct val="113000"/>
              </a:lnSpc>
              <a:spcBef>
                <a:spcPts val="0"/>
              </a:spcBef>
              <a:spcAft>
                <a:spcPts val="0"/>
              </a:spcAft>
            </a:pPr>
            <a:r>
              <a:rPr sz="1300" b="1" lang="vi-VN">
                <a:solidFill>
                  <a:srgbClr val="B52033"/>
                </a:solidFill>
                <a:latin typeface="Arial"/>
              </a:rPr>
              <a:t>TUẦN 9–12</a:t>
            </a:r>
          </a:p>
        </p:txBody>
      </p:sp>
      <p:sp>
        <p:nvSpPr>
          <p:cNvPr id="24" name="TextBox 23"/>
          <p:cNvSpPr txBox="1"/>
          <p:nvPr/>
        </p:nvSpPr>
        <p:spPr>
          <a:xfrm>
            <a:off x="7333488" y="3273552"/>
            <a:ext cx="2112264" cy="566928"/>
          </a:xfrm>
          <a:prstGeom prst="rect">
            <a:avLst/>
          </a:prstGeom>
          <a:noFill/>
          <a:effectLst/>
        </p:spPr>
        <p:txBody>
          <a:bodyPr wrap="square" lIns="0" rIns="0" tIns="0" bIns="0" anchor="t">
            <a:spAutoFit/>
          </a:bodyPr>
          <a:lstStyle/>
          <a:p>
            <a:pPr algn="l">
              <a:lnSpc>
                <a:spcPct val="113000"/>
              </a:lnSpc>
              <a:spcBef>
                <a:spcPts val="0"/>
              </a:spcBef>
              <a:spcAft>
                <a:spcPts val="0"/>
              </a:spcAft>
            </a:pPr>
            <a:r>
              <a:rPr sz="2000" b="1" lang="vi-VN">
                <a:solidFill>
                  <a:srgbClr val="192A39"/>
                </a:solidFill>
                <a:latin typeface="Arial"/>
              </a:rPr>
              <a:t>Bảo vệ &amp; ổn định</a:t>
            </a:r>
          </a:p>
        </p:txBody>
      </p:sp>
      <p:sp>
        <p:nvSpPr>
          <p:cNvPr id="25" name="TextBox 24"/>
          <p:cNvSpPr txBox="1"/>
          <p:nvPr/>
        </p:nvSpPr>
        <p:spPr>
          <a:xfrm>
            <a:off x="7333488" y="4069080"/>
            <a:ext cx="2112264" cy="868680"/>
          </a:xfrm>
          <a:prstGeom prst="rect">
            <a:avLst/>
          </a:prstGeom>
          <a:noFill/>
          <a:effectLst/>
        </p:spPr>
        <p:txBody>
          <a:bodyPr wrap="square" lIns="0" rIns="0" tIns="0" bIns="0" anchor="t">
            <a:spAutoFit/>
          </a:bodyPr>
          <a:lstStyle/>
          <a:p>
            <a:pPr algn="l">
              <a:lnSpc>
                <a:spcPct val="120000"/>
              </a:lnSpc>
              <a:spcBef>
                <a:spcPts val="0"/>
              </a:spcBef>
              <a:spcAft>
                <a:spcPts val="0"/>
              </a:spcAft>
            </a:pPr>
            <a:r>
              <a:rPr sz="1600" b="0" lang="vi-VN">
                <a:solidFill>
                  <a:srgbClr val="596A77"/>
                </a:solidFill>
                <a:latin typeface="Arial"/>
              </a:rPr>
              <a:t>Mục lục · vùng khóa</a:t>
            </a:r>
          </a:p>
          <a:p>
            <a:pPr algn="l">
              <a:lnSpc>
                <a:spcPct val="120000"/>
              </a:lnSpc>
              <a:spcBef>
                <a:spcPts val="0"/>
              </a:spcBef>
              <a:spcAft>
                <a:spcPts val="0"/>
              </a:spcAft>
            </a:pPr>
            <a:r>
              <a:rPr sz="1600" b="0" lang="vi-VN">
                <a:solidFill>
                  <a:srgbClr val="596A77"/>
                </a:solidFill>
                <a:latin typeface="Arial"/>
              </a:rPr>
              <a:t>xem trước · TTL</a:t>
            </a:r>
          </a:p>
        </p:txBody>
      </p:sp>
      <p:sp>
        <p:nvSpPr>
          <p:cNvPr id="26" name="Oval 25"/>
          <p:cNvSpPr/>
          <p:nvPr/>
        </p:nvSpPr>
        <p:spPr>
          <a:xfrm>
            <a:off x="9710928" y="2084831"/>
            <a:ext cx="493776" cy="493776"/>
          </a:xfrm>
          <a:prstGeom prst="ellipse">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9601200" y="2761488"/>
            <a:ext cx="2112264" cy="310896"/>
          </a:xfrm>
          <a:prstGeom prst="rect">
            <a:avLst/>
          </a:prstGeom>
          <a:noFill/>
          <a:effectLst/>
        </p:spPr>
        <p:txBody>
          <a:bodyPr wrap="square" lIns="0" rIns="0" tIns="0" bIns="0" anchor="t">
            <a:spAutoFit/>
          </a:bodyPr>
          <a:lstStyle/>
          <a:p>
            <a:pPr algn="l">
              <a:lnSpc>
                <a:spcPct val="113000"/>
              </a:lnSpc>
              <a:spcBef>
                <a:spcPts val="0"/>
              </a:spcBef>
              <a:spcAft>
                <a:spcPts val="0"/>
              </a:spcAft>
            </a:pPr>
            <a:r>
              <a:rPr sz="1300" b="1" lang="vi-VN">
                <a:solidFill>
                  <a:srgbClr val="B52033"/>
                </a:solidFill>
                <a:latin typeface="Arial"/>
              </a:rPr>
              <a:t>TUẦN 13–15</a:t>
            </a:r>
          </a:p>
        </p:txBody>
      </p:sp>
      <p:sp>
        <p:nvSpPr>
          <p:cNvPr id="28" name="TextBox 27"/>
          <p:cNvSpPr txBox="1"/>
          <p:nvPr/>
        </p:nvSpPr>
        <p:spPr>
          <a:xfrm>
            <a:off x="9601200" y="3273552"/>
            <a:ext cx="2112264" cy="566928"/>
          </a:xfrm>
          <a:prstGeom prst="rect">
            <a:avLst/>
          </a:prstGeom>
          <a:noFill/>
          <a:effectLst/>
        </p:spPr>
        <p:txBody>
          <a:bodyPr wrap="square" lIns="0" rIns="0" tIns="0" bIns="0" anchor="t">
            <a:spAutoFit/>
          </a:bodyPr>
          <a:lstStyle/>
          <a:p>
            <a:pPr algn="l">
              <a:lnSpc>
                <a:spcPct val="113000"/>
              </a:lnSpc>
              <a:spcBef>
                <a:spcPts val="0"/>
              </a:spcBef>
              <a:spcAft>
                <a:spcPts val="0"/>
              </a:spcAft>
            </a:pPr>
            <a:r>
              <a:rPr sz="2000" b="1" lang="vi-VN">
                <a:solidFill>
                  <a:srgbClr val="192A39"/>
                </a:solidFill>
                <a:latin typeface="Arial"/>
              </a:rPr>
              <a:t>Nghiệm thu</a:t>
            </a:r>
          </a:p>
        </p:txBody>
      </p:sp>
      <p:sp>
        <p:nvSpPr>
          <p:cNvPr id="29" name="TextBox 28"/>
          <p:cNvSpPr txBox="1"/>
          <p:nvPr/>
        </p:nvSpPr>
        <p:spPr>
          <a:xfrm>
            <a:off x="9601200" y="4069080"/>
            <a:ext cx="2112264" cy="868680"/>
          </a:xfrm>
          <a:prstGeom prst="rect">
            <a:avLst/>
          </a:prstGeom>
          <a:noFill/>
          <a:effectLst/>
        </p:spPr>
        <p:txBody>
          <a:bodyPr wrap="square" lIns="0" rIns="0" tIns="0" bIns="0" anchor="t">
            <a:spAutoFit/>
          </a:bodyPr>
          <a:lstStyle/>
          <a:p>
            <a:pPr algn="l">
              <a:lnSpc>
                <a:spcPct val="120000"/>
              </a:lnSpc>
              <a:spcBef>
                <a:spcPts val="0"/>
              </a:spcBef>
              <a:spcAft>
                <a:spcPts val="0"/>
              </a:spcAft>
            </a:pPr>
            <a:r>
              <a:rPr sz="1600" b="0" lang="vi-VN">
                <a:solidFill>
                  <a:srgbClr val="596A77"/>
                </a:solidFill>
                <a:latin typeface="Arial"/>
              </a:rPr>
              <a:t>Word/Windows</a:t>
            </a:r>
          </a:p>
          <a:p>
            <a:pPr algn="l">
              <a:lnSpc>
                <a:spcPct val="120000"/>
              </a:lnSpc>
              <a:spcBef>
                <a:spcPts val="0"/>
              </a:spcBef>
              <a:spcAft>
                <a:spcPts val="0"/>
              </a:spcAft>
            </a:pPr>
            <a:r>
              <a:rPr sz="1600" b="0" lang="vi-VN">
                <a:solidFill>
                  <a:srgbClr val="596A77"/>
                </a:solidFill>
                <a:latin typeface="Arial"/>
              </a:rPr>
              <a:t>hồi quy · bàn giao</a:t>
            </a:r>
          </a:p>
        </p:txBody>
      </p:sp>
      <p:sp>
        <p:nvSpPr>
          <p:cNvPr id="30" name="Rounded Rectangle 29"/>
          <p:cNvSpPr/>
          <p:nvPr/>
        </p:nvSpPr>
        <p:spPr>
          <a:xfrm>
            <a:off x="530352" y="5221224"/>
            <a:ext cx="11128248" cy="530352"/>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49808" y="5376672"/>
            <a:ext cx="10652760" cy="246888"/>
          </a:xfrm>
          <a:prstGeom prst="rect">
            <a:avLst/>
          </a:prstGeom>
          <a:noFill/>
          <a:effectLst/>
        </p:spPr>
        <p:txBody>
          <a:bodyPr wrap="square" lIns="0" rIns="0" tIns="0" bIns="0" anchor="t">
            <a:spAutoFit/>
          </a:bodyPr>
          <a:lstStyle/>
          <a:p>
            <a:pPr algn="l">
              <a:lnSpc>
                <a:spcPct val="113000"/>
              </a:lnSpc>
              <a:spcBef>
                <a:spcPts val="0"/>
              </a:spcBef>
              <a:spcAft>
                <a:spcPts val="0"/>
              </a:spcAft>
            </a:pPr>
            <a:r>
              <a:rPr sz="1530" b="1" lang="vi-VN">
                <a:solidFill>
                  <a:srgbClr val="192A39"/>
                </a:solidFill>
                <a:latin typeface="Arial"/>
              </a:rPr>
              <a:t>Mười: nghiệp vụ + lõi xử lý     |     Lương: giao diện + tích hợp + QA     |     Cùng kiểm tra chéo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B52033"/>
                </a:solidFill>
                <a:latin typeface="Arial"/>
              </a:rPr>
              <a:t>11  /  KẾT LUẬN VÀ HƯỚNG HOÀN THIỆN</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Đích đến V1: nhất quán, kiểm soát được, đáng tin.</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DOCLINT  /  BÁO CÁO CUỐI KỲ</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13 / 13</a:t>
            </a:r>
          </a:p>
        </p:txBody>
      </p:sp>
      <p:sp>
        <p:nvSpPr>
          <p:cNvPr id="7" name="Rectangle 6"/>
          <p:cNvSpPr/>
          <p:nvPr/>
        </p:nvSpPr>
        <p:spPr>
          <a:xfrm>
            <a:off x="0" y="6821424"/>
            <a:ext cx="12191999" cy="36576"/>
          </a:xfrm>
          <a:prstGeom prst="rect">
            <a:avLst/>
          </a:prstGeom>
          <a:solidFill>
            <a:srgbClr val="B5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530352" y="2075688"/>
            <a:ext cx="11128248" cy="1069848"/>
          </a:xfrm>
          <a:prstGeom prst="roundRect">
            <a:avLst>
              <a:gd name="adj" fmla="val 8000"/>
            </a:avLst>
          </a:prstGeom>
          <a:solidFill>
            <a:srgbClr val="142A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50392" y="2395728"/>
            <a:ext cx="10488168" cy="502920"/>
          </a:xfrm>
          <a:prstGeom prst="rect">
            <a:avLst/>
          </a:prstGeom>
          <a:noFill/>
          <a:effectLst/>
        </p:spPr>
        <p:txBody>
          <a:bodyPr wrap="square" lIns="0" rIns="0" tIns="0" bIns="0" anchor="t">
            <a:spAutoFit/>
          </a:bodyPr>
          <a:lstStyle/>
          <a:p>
            <a:pPr algn="ctr">
              <a:lnSpc>
                <a:spcPct val="113000"/>
              </a:lnSpc>
              <a:spcBef>
                <a:spcPts val="0"/>
              </a:spcBef>
              <a:spcAft>
                <a:spcPts val="0"/>
              </a:spcAft>
            </a:pPr>
            <a:r>
              <a:rPr sz="3100" b="1" lang="vi-VN">
                <a:solidFill>
                  <a:srgbClr val="FFFFFF"/>
                </a:solidFill>
                <a:latin typeface="Arial"/>
              </a:rPr>
              <a:t>Giảm việc chỉnh tay. Giữ quyền của tác giả.</a:t>
            </a:r>
          </a:p>
        </p:txBody>
      </p:sp>
      <p:sp>
        <p:nvSpPr>
          <p:cNvPr id="10" name="TextBox 9"/>
          <p:cNvSpPr txBox="1"/>
          <p:nvPr/>
        </p:nvSpPr>
        <p:spPr>
          <a:xfrm>
            <a:off x="960120" y="3584448"/>
            <a:ext cx="54864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B52033"/>
                </a:solidFill>
                <a:latin typeface="Arial"/>
              </a:rPr>
              <a:t>01</a:t>
            </a:r>
          </a:p>
        </p:txBody>
      </p:sp>
      <p:sp>
        <p:nvSpPr>
          <p:cNvPr id="11" name="TextBox 10"/>
          <p:cNvSpPr txBox="1"/>
          <p:nvPr/>
        </p:nvSpPr>
        <p:spPr>
          <a:xfrm>
            <a:off x="1801368" y="3584448"/>
            <a:ext cx="932688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400" b="1" lang="vi-VN">
                <a:solidFill>
                  <a:srgbClr val="192A39"/>
                </a:solidFill>
                <a:latin typeface="Arial"/>
              </a:rPr>
              <a:t>Bảo toàn và giữ đúng phạm vi</a:t>
            </a:r>
          </a:p>
        </p:txBody>
      </p:sp>
      <p:sp>
        <p:nvSpPr>
          <p:cNvPr id="12" name="TextBox 11"/>
          <p:cNvSpPr txBox="1"/>
          <p:nvPr/>
        </p:nvSpPr>
        <p:spPr>
          <a:xfrm>
            <a:off x="960120" y="4215383"/>
            <a:ext cx="54864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B52033"/>
                </a:solidFill>
                <a:latin typeface="Arial"/>
              </a:rPr>
              <a:t>02</a:t>
            </a:r>
          </a:p>
        </p:txBody>
      </p:sp>
      <p:sp>
        <p:nvSpPr>
          <p:cNvPr id="13" name="TextBox 12"/>
          <p:cNvSpPr txBox="1"/>
          <p:nvPr/>
        </p:nvSpPr>
        <p:spPr>
          <a:xfrm>
            <a:off x="1801368" y="4215383"/>
            <a:ext cx="932688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400" b="1" lang="vi-VN">
                <a:solidFill>
                  <a:srgbClr val="192A39"/>
                </a:solidFill>
                <a:latin typeface="Arial"/>
              </a:rPr>
              <a:t>Word và mục lục ổn định</a:t>
            </a:r>
          </a:p>
        </p:txBody>
      </p:sp>
      <p:sp>
        <p:nvSpPr>
          <p:cNvPr id="14" name="TextBox 13"/>
          <p:cNvSpPr txBox="1"/>
          <p:nvPr/>
        </p:nvSpPr>
        <p:spPr>
          <a:xfrm>
            <a:off x="960120" y="4846320"/>
            <a:ext cx="54864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200" b="1" lang="vi-VN">
                <a:solidFill>
                  <a:srgbClr val="B52033"/>
                </a:solidFill>
                <a:latin typeface="Arial"/>
              </a:rPr>
              <a:t>03</a:t>
            </a:r>
          </a:p>
        </p:txBody>
      </p:sp>
      <p:sp>
        <p:nvSpPr>
          <p:cNvPr id="15" name="TextBox 14"/>
          <p:cNvSpPr txBox="1"/>
          <p:nvPr/>
        </p:nvSpPr>
        <p:spPr>
          <a:xfrm>
            <a:off x="1801368" y="4846320"/>
            <a:ext cx="9326880" cy="365760"/>
          </a:xfrm>
          <a:prstGeom prst="rect">
            <a:avLst/>
          </a:prstGeom>
          <a:noFill/>
          <a:effectLst/>
        </p:spPr>
        <p:txBody>
          <a:bodyPr wrap="square" lIns="0" rIns="0" tIns="0" bIns="0" anchor="t">
            <a:spAutoFit/>
          </a:bodyPr>
          <a:lstStyle/>
          <a:p>
            <a:pPr algn="l">
              <a:lnSpc>
                <a:spcPct val="113000"/>
              </a:lnSpc>
              <a:spcBef>
                <a:spcPts val="0"/>
              </a:spcBef>
              <a:spcAft>
                <a:spcPts val="0"/>
              </a:spcAft>
            </a:pPr>
            <a:r>
              <a:rPr sz="2400" b="1" lang="vi-VN">
                <a:solidFill>
                  <a:srgbClr val="192A39"/>
                </a:solidFill>
                <a:latin typeface="Arial"/>
              </a:rPr>
              <a:t>Ít lựa chọn, dễ kiểm tra và bàn giao</a:t>
            </a:r>
          </a:p>
        </p:txBody>
      </p:sp>
      <p:sp>
        <p:nvSpPr>
          <p:cNvPr id="16" name="TextBox 15"/>
          <p:cNvSpPr txBox="1"/>
          <p:nvPr/>
        </p:nvSpPr>
        <p:spPr>
          <a:xfrm>
            <a:off x="621792" y="5742432"/>
            <a:ext cx="10972800" cy="301752"/>
          </a:xfrm>
          <a:prstGeom prst="rect">
            <a:avLst/>
          </a:prstGeom>
          <a:noFill/>
          <a:effectLst/>
        </p:spPr>
        <p:txBody>
          <a:bodyPr wrap="square" lIns="0" rIns="0" tIns="0" bIns="0" anchor="t">
            <a:spAutoFit/>
          </a:bodyPr>
          <a:lstStyle/>
          <a:p>
            <a:pPr algn="ctr">
              <a:lnSpc>
                <a:spcPct val="113000"/>
              </a:lnSpc>
              <a:spcBef>
                <a:spcPts val="0"/>
              </a:spcBef>
              <a:spcAft>
                <a:spcPts val="0"/>
              </a:spcAft>
            </a:pPr>
            <a:r>
              <a:rPr sz="1800" b="0" lang="vi-VN">
                <a:solidFill>
                  <a:srgbClr val="596A77"/>
                </a:solidFill>
                <a:latin typeface="Arial"/>
              </a:rPr>
              <a:t>Xin cảm ơn  /  Câu hỏi &amp; thảo luận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596A77"/>
                </a:solidFill>
                <a:latin typeface="Arial"/>
              </a:rPr>
              <a:t>PHỤ LỤC  /  KẾ HOẠCH CHI TIẾT CHO NHÓM HAI NGƯỜI</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Tuần 1–5: xác lập đề tài và nền tảng.</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PHỤ LỤC  /  DÙNG KHI TRẢ LỜI CÂU HỎI</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B1</a:t>
            </a:r>
          </a:p>
        </p:txBody>
      </p:sp>
      <p:sp>
        <p:nvSpPr>
          <p:cNvPr id="7" name="TextBox 6"/>
          <p:cNvSpPr txBox="1"/>
          <p:nvPr/>
        </p:nvSpPr>
        <p:spPr>
          <a:xfrm>
            <a:off x="548640" y="5989320"/>
            <a:ext cx="11109960" cy="274320"/>
          </a:xfrm>
          <a:prstGeom prst="rect">
            <a:avLst/>
          </a:prstGeom>
          <a:noFill/>
          <a:effectLst/>
        </p:spPr>
        <p:txBody>
          <a:bodyPr wrap="square" lIns="0" rIns="0" tIns="0" bIns="0" anchor="t">
            <a:spAutoFit/>
          </a:bodyPr>
          <a:lstStyle/>
          <a:p>
            <a:pPr algn="l">
              <a:lnSpc>
                <a:spcPct val="100000"/>
              </a:lnSpc>
              <a:spcBef>
                <a:spcPts val="0"/>
              </a:spcBef>
              <a:spcAft>
                <a:spcPts val="0"/>
              </a:spcAft>
            </a:pPr>
            <a:r>
              <a:rPr sz="930" b="0" lang="vi-VN">
                <a:solidFill>
                  <a:srgbClr val="596A77"/>
                </a:solidFill>
                <a:latin typeface="Arial"/>
              </a:rPr>
              <a:t>Nguồn: báo cáo cuối kỳ, mục 8.4. Bảng rút gọn câu chữ để trình chiếu; trách nhiệm và đầu ra giữ cùng định hướng.</a:t>
            </a:r>
          </a:p>
        </p:txBody>
      </p:sp>
      <p:graphicFrame>
        <p:nvGraphicFramePr>
          <p:cNvPr id="8" name="Table 7"/>
          <p:cNvGraphicFramePr>
            <a:graphicFrameLocks noGrp="1"/>
          </p:cNvGraphicFramePr>
          <p:nvPr/>
        </p:nvGraphicFramePr>
        <p:xfrm>
          <a:off x="530352" y="1892807"/>
          <a:ext cx="11128248" cy="3950208"/>
        </p:xfrm>
        <a:graphic>
          <a:graphicData uri="http://schemas.openxmlformats.org/drawingml/2006/table">
            <a:tbl>
              <a:tblPr firstRow="1" bandRow="1">
                <a:tableStyleId>{5C22544A-7EE6-4342-B048-85BDC9FD1C3A}</a:tableStyleId>
              </a:tblPr>
              <a:tblGrid>
                <a:gridCol w="731520"/>
                <a:gridCol w="3063240"/>
                <a:gridCol w="3063240"/>
                <a:gridCol w="4270248"/>
              </a:tblGrid>
              <a:tr h="475488">
                <a:tc>
                  <a:txBody>
                    <a:bodyPr/>
                    <a:lstStyle/>
                    <a:p>
                      <a:pPr>
                        <a:lnSpc>
                          <a:spcPct val="105000"/>
                        </a:lnSpc>
                        <a:spcBef>
                          <a:spcPts val="0"/>
                        </a:spcBef>
                        <a:spcAft>
                          <a:spcPts val="0"/>
                        </a:spcAft>
                      </a:pPr>
                      <a:r>
                        <a:rPr sz="1600" b="1">
                          <a:solidFill>
                            <a:srgbClr val="FFFFFF"/>
                          </a:solidFill>
                          <a:latin typeface="Arial"/>
                        </a:rPr>
                        <a:t>Tuần</a:t>
                      </a:r>
                    </a:p>
                  </a:txBody>
                  <a:tcPr marL="91440" marR="91440" marT="45720" marB="45720" anchor="ctr">
                    <a:solidFill>
                      <a:srgbClr val="142A3D"/>
                    </a:solidFill>
                  </a:tcPr>
                </a:tc>
                <a:tc>
                  <a:txBody>
                    <a:bodyPr/>
                    <a:lstStyle/>
                    <a:p>
                      <a:pPr>
                        <a:lnSpc>
                          <a:spcPct val="105000"/>
                        </a:lnSpc>
                        <a:spcBef>
                          <a:spcPts val="0"/>
                        </a:spcBef>
                        <a:spcAft>
                          <a:spcPts val="0"/>
                        </a:spcAft>
                      </a:pPr>
                      <a:r>
                        <a:rPr sz="1500" b="1">
                          <a:solidFill>
                            <a:srgbClr val="FFFFFF"/>
                          </a:solidFill>
                          <a:latin typeface="Arial"/>
                        </a:rPr>
                        <a:t>Nguyễn Đức Mười</a:t>
                      </a:r>
                    </a:p>
                  </a:txBody>
                  <a:tcPr marL="91440" marR="91440" marT="45720" marB="45720" anchor="ctr">
                    <a:solidFill>
                      <a:srgbClr val="142A3D"/>
                    </a:solidFill>
                  </a:tcPr>
                </a:tc>
                <a:tc>
                  <a:txBody>
                    <a:bodyPr/>
                    <a:lstStyle/>
                    <a:p>
                      <a:pPr>
                        <a:lnSpc>
                          <a:spcPct val="105000"/>
                        </a:lnSpc>
                        <a:spcBef>
                          <a:spcPts val="0"/>
                        </a:spcBef>
                        <a:spcAft>
                          <a:spcPts val="0"/>
                        </a:spcAft>
                      </a:pPr>
                      <a:r>
                        <a:rPr sz="1500" b="1">
                          <a:solidFill>
                            <a:srgbClr val="FFFFFF"/>
                          </a:solidFill>
                          <a:latin typeface="Arial"/>
                        </a:rPr>
                        <a:t>Nguyễn Đức Lương</a:t>
                      </a:r>
                    </a:p>
                  </a:txBody>
                  <a:tcPr marL="91440" marR="91440" marT="45720" marB="45720" anchor="ctr">
                    <a:solidFill>
                      <a:srgbClr val="142A3D"/>
                    </a:solidFill>
                  </a:tcPr>
                </a:tc>
                <a:tc>
                  <a:txBody>
                    <a:bodyPr/>
                    <a:lstStyle/>
                    <a:p>
                      <a:pPr>
                        <a:lnSpc>
                          <a:spcPct val="105000"/>
                        </a:lnSpc>
                        <a:spcBef>
                          <a:spcPts val="0"/>
                        </a:spcBef>
                        <a:spcAft>
                          <a:spcPts val="0"/>
                        </a:spcAft>
                      </a:pPr>
                      <a:r>
                        <a:rPr sz="1500" b="1">
                          <a:solidFill>
                            <a:srgbClr val="FFFFFF"/>
                          </a:solidFill>
                          <a:latin typeface="Arial"/>
                        </a:rPr>
                        <a:t>Đầu ra / tiêu chí</a:t>
                      </a:r>
                    </a:p>
                  </a:txBody>
                  <a:tcPr marL="91440" marR="91440" marT="45720" marB="45720" anchor="ctr">
                    <a:solidFill>
                      <a:srgbClr val="142A3D"/>
                    </a:solidFill>
                  </a:tcPr>
                </a:tc>
              </a:tr>
              <a:tr h="694944">
                <a:tc>
                  <a:txBody>
                    <a:bodyPr/>
                    <a:lstStyle/>
                    <a:p>
                      <a:pPr>
                        <a:lnSpc>
                          <a:spcPct val="105000"/>
                        </a:lnSpc>
                        <a:spcBef>
                          <a:spcPts val="0"/>
                        </a:spcBef>
                        <a:spcAft>
                          <a:spcPts val="0"/>
                        </a:spcAft>
                      </a:pPr>
                      <a:r>
                        <a:rPr sz="1600" b="1">
                          <a:solidFill>
                            <a:srgbClr val="192A39"/>
                          </a:solidFill>
                          <a:latin typeface="Arial"/>
                        </a:rPr>
                        <a:t>1</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ECG: bài toán và yêu cầu sơ bộ</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Luồng người dùng, phân vai, kế hoạch</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Báo cáo khởi tạo; ghi đúng đề tài ban đầu</a:t>
                      </a:r>
                    </a:p>
                  </a:txBody>
                  <a:tcPr marL="91440" marR="91440" marT="45720" marB="45720" anchor="ctr">
                    <a:solidFill>
                      <a:srgbClr val="FFFFFF"/>
                    </a:solidFill>
                  </a:tcPr>
                </a:tc>
              </a:tr>
              <a:tr h="694944">
                <a:tc>
                  <a:txBody>
                    <a:bodyPr/>
                    <a:lstStyle/>
                    <a:p>
                      <a:pPr>
                        <a:lnSpc>
                          <a:spcPct val="105000"/>
                        </a:lnSpc>
                        <a:spcBef>
                          <a:spcPts val="0"/>
                        </a:spcBef>
                        <a:spcAft>
                          <a:spcPts val="0"/>
                        </a:spcAft>
                      </a:pPr>
                      <a:r>
                        <a:rPr sz="1600" b="1">
                          <a:solidFill>
                            <a:srgbClr val="192A39"/>
                          </a:solidFill>
                          <a:latin typeface="Arial"/>
                        </a:rPr>
                        <a:t>2</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ECG: yêu cầu và cấu trúc kỹ thuật</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Giao diện dự kiến, hiệu năng, kiểm thử</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Phân tích sơ bộ và danh sách giả định</a:t>
                      </a:r>
                    </a:p>
                  </a:txBody>
                  <a:tcPr marL="91440" marR="91440" marT="45720" marB="45720" anchor="ctr">
                    <a:solidFill>
                      <a:srgbClr val="E9EDF0"/>
                    </a:solidFill>
                  </a:tcPr>
                </a:tc>
              </a:tr>
              <a:tr h="694944">
                <a:tc>
                  <a:txBody>
                    <a:bodyPr/>
                    <a:lstStyle/>
                    <a:p>
                      <a:pPr>
                        <a:lnSpc>
                          <a:spcPct val="105000"/>
                        </a:lnSpc>
                        <a:spcBef>
                          <a:spcPts val="0"/>
                        </a:spcBef>
                        <a:spcAft>
                          <a:spcPts val="0"/>
                        </a:spcAft>
                      </a:pPr>
                      <a:r>
                        <a:rPr sz="1600" b="1">
                          <a:solidFill>
                            <a:srgbClr val="192A39"/>
                          </a:solidFill>
                          <a:latin typeface="Arial"/>
                        </a:rPr>
                        <a:t>3</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Chuyển DocLint; thử nghiệm OOXML</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Câu hỏi khảo sát, UX và phạm vi</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Chốt mục tiêu, bảo toàn và nguyên mẫu</a:t>
                      </a:r>
                    </a:p>
                  </a:txBody>
                  <a:tcPr marL="91440" marR="91440" marT="45720" marB="45720" anchor="ctr">
                    <a:solidFill>
                      <a:srgbClr val="FFFFFF"/>
                    </a:solidFill>
                  </a:tcPr>
                </a:tc>
              </a:tr>
              <a:tr h="694944">
                <a:tc>
                  <a:txBody>
                    <a:bodyPr/>
                    <a:lstStyle/>
                    <a:p>
                      <a:pPr>
                        <a:lnSpc>
                          <a:spcPct val="105000"/>
                        </a:lnSpc>
                        <a:spcBef>
                          <a:spcPts val="0"/>
                        </a:spcBef>
                        <a:spcAft>
                          <a:spcPts val="0"/>
                        </a:spcAft>
                      </a:pPr>
                      <a:r>
                        <a:rPr sz="1600" b="1">
                          <a:solidFill>
                            <a:srgbClr val="192A39"/>
                          </a:solidFill>
                          <a:latin typeface="Arial"/>
                        </a:rPr>
                        <a:t>4</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Yêu cầu, quyết định, dữ liệu, truy vết</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15 phản hồi; Use Case và luồng UX</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SRS và khảo sát khớp phạm vi khả thi</a:t>
                      </a:r>
                    </a:p>
                  </a:txBody>
                  <a:tcPr marL="91440" marR="91440" marT="45720" marB="45720" anchor="ctr">
                    <a:solidFill>
                      <a:srgbClr val="E9EDF0"/>
                    </a:solidFill>
                  </a:tcPr>
                </a:tc>
              </a:tr>
              <a:tr h="694944">
                <a:tc>
                  <a:txBody>
                    <a:bodyPr/>
                    <a:lstStyle/>
                    <a:p>
                      <a:pPr>
                        <a:lnSpc>
                          <a:spcPct val="105000"/>
                        </a:lnSpc>
                        <a:spcBef>
                          <a:spcPts val="0"/>
                        </a:spcBef>
                        <a:spcAft>
                          <a:spcPts val="0"/>
                        </a:spcAft>
                      </a:pPr>
                      <a:r>
                        <a:rPr sz="1600" b="1">
                          <a:solidFill>
                            <a:srgbClr val="192A39"/>
                          </a:solidFill>
                          <a:latin typeface="Arial"/>
                        </a:rPr>
                        <a:t>5</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Lõi xử lý, profile và API ban đầu</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Hợp đồng API, dữ liệu kiểm tra</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Nhận tệp, gọi API, trả kết quả ở ca hỗ trợ</a:t>
                      </a:r>
                    </a:p>
                  </a:txBody>
                  <a:tcPr marL="91440" marR="91440" marT="45720" marB="45720"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596A77"/>
                </a:solidFill>
                <a:latin typeface="Arial"/>
              </a:rPr>
              <a:t>PHỤ LỤC  /  KẾ HOẠCH CHI TIẾT CHO NHÓM HAI NGƯỜI</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Tuần 6–10: hoàn thiện luồng nghiệp vụ.</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PHỤ LỤC  /  DÙNG KHI TRẢ LỜI CÂU HỎI</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B2</a:t>
            </a:r>
          </a:p>
        </p:txBody>
      </p:sp>
      <p:sp>
        <p:nvSpPr>
          <p:cNvPr id="7" name="TextBox 6"/>
          <p:cNvSpPr txBox="1"/>
          <p:nvPr/>
        </p:nvSpPr>
        <p:spPr>
          <a:xfrm>
            <a:off x="548640" y="5989320"/>
            <a:ext cx="11109960" cy="274320"/>
          </a:xfrm>
          <a:prstGeom prst="rect">
            <a:avLst/>
          </a:prstGeom>
          <a:noFill/>
          <a:effectLst/>
        </p:spPr>
        <p:txBody>
          <a:bodyPr wrap="square" lIns="0" rIns="0" tIns="0" bIns="0" anchor="t">
            <a:spAutoFit/>
          </a:bodyPr>
          <a:lstStyle/>
          <a:p>
            <a:pPr algn="l">
              <a:lnSpc>
                <a:spcPct val="100000"/>
              </a:lnSpc>
              <a:spcBef>
                <a:spcPts val="0"/>
              </a:spcBef>
              <a:spcAft>
                <a:spcPts val="0"/>
              </a:spcAft>
            </a:pPr>
            <a:r>
              <a:rPr sz="930" b="0" lang="vi-VN">
                <a:solidFill>
                  <a:srgbClr val="596A77"/>
                </a:solidFill>
                <a:latin typeface="Arial"/>
              </a:rPr>
              <a:t>Nguồn: báo cáo cuối kỳ, mục 8.4. Bảng rút gọn câu chữ để trình chiếu; trách nhiệm và đầu ra giữ cùng định hướng.</a:t>
            </a:r>
          </a:p>
        </p:txBody>
      </p:sp>
      <p:graphicFrame>
        <p:nvGraphicFramePr>
          <p:cNvPr id="8" name="Table 7"/>
          <p:cNvGraphicFramePr>
            <a:graphicFrameLocks noGrp="1"/>
          </p:cNvGraphicFramePr>
          <p:nvPr/>
        </p:nvGraphicFramePr>
        <p:xfrm>
          <a:off x="530352" y="1892807"/>
          <a:ext cx="11128248" cy="3950208"/>
        </p:xfrm>
        <a:graphic>
          <a:graphicData uri="http://schemas.openxmlformats.org/drawingml/2006/table">
            <a:tbl>
              <a:tblPr firstRow="1" bandRow="1">
                <a:tableStyleId>{5C22544A-7EE6-4342-B048-85BDC9FD1C3A}</a:tableStyleId>
              </a:tblPr>
              <a:tblGrid>
                <a:gridCol w="731520"/>
                <a:gridCol w="3063240"/>
                <a:gridCol w="3063240"/>
                <a:gridCol w="4270248"/>
              </a:tblGrid>
              <a:tr h="475488">
                <a:tc>
                  <a:txBody>
                    <a:bodyPr/>
                    <a:lstStyle/>
                    <a:p>
                      <a:pPr>
                        <a:lnSpc>
                          <a:spcPct val="105000"/>
                        </a:lnSpc>
                        <a:spcBef>
                          <a:spcPts val="0"/>
                        </a:spcBef>
                        <a:spcAft>
                          <a:spcPts val="0"/>
                        </a:spcAft>
                      </a:pPr>
                      <a:r>
                        <a:rPr sz="1600" b="1">
                          <a:solidFill>
                            <a:srgbClr val="FFFFFF"/>
                          </a:solidFill>
                          <a:latin typeface="Arial"/>
                        </a:rPr>
                        <a:t>Tuần</a:t>
                      </a:r>
                    </a:p>
                  </a:txBody>
                  <a:tcPr marL="91440" marR="91440" marT="45720" marB="45720" anchor="ctr">
                    <a:solidFill>
                      <a:srgbClr val="142A3D"/>
                    </a:solidFill>
                  </a:tcPr>
                </a:tc>
                <a:tc>
                  <a:txBody>
                    <a:bodyPr/>
                    <a:lstStyle/>
                    <a:p>
                      <a:pPr>
                        <a:lnSpc>
                          <a:spcPct val="105000"/>
                        </a:lnSpc>
                        <a:spcBef>
                          <a:spcPts val="0"/>
                        </a:spcBef>
                        <a:spcAft>
                          <a:spcPts val="0"/>
                        </a:spcAft>
                      </a:pPr>
                      <a:r>
                        <a:rPr sz="1500" b="1">
                          <a:solidFill>
                            <a:srgbClr val="FFFFFF"/>
                          </a:solidFill>
                          <a:latin typeface="Arial"/>
                        </a:rPr>
                        <a:t>Nguyễn Đức Mười</a:t>
                      </a:r>
                    </a:p>
                  </a:txBody>
                  <a:tcPr marL="91440" marR="91440" marT="45720" marB="45720" anchor="ctr">
                    <a:solidFill>
                      <a:srgbClr val="142A3D"/>
                    </a:solidFill>
                  </a:tcPr>
                </a:tc>
                <a:tc>
                  <a:txBody>
                    <a:bodyPr/>
                    <a:lstStyle/>
                    <a:p>
                      <a:pPr>
                        <a:lnSpc>
                          <a:spcPct val="105000"/>
                        </a:lnSpc>
                        <a:spcBef>
                          <a:spcPts val="0"/>
                        </a:spcBef>
                        <a:spcAft>
                          <a:spcPts val="0"/>
                        </a:spcAft>
                      </a:pPr>
                      <a:r>
                        <a:rPr sz="1500" b="1">
                          <a:solidFill>
                            <a:srgbClr val="FFFFFF"/>
                          </a:solidFill>
                          <a:latin typeface="Arial"/>
                        </a:rPr>
                        <a:t>Nguyễn Đức Lương</a:t>
                      </a:r>
                    </a:p>
                  </a:txBody>
                  <a:tcPr marL="91440" marR="91440" marT="45720" marB="45720" anchor="ctr">
                    <a:solidFill>
                      <a:srgbClr val="142A3D"/>
                    </a:solidFill>
                  </a:tcPr>
                </a:tc>
                <a:tc>
                  <a:txBody>
                    <a:bodyPr/>
                    <a:lstStyle/>
                    <a:p>
                      <a:pPr>
                        <a:lnSpc>
                          <a:spcPct val="105000"/>
                        </a:lnSpc>
                        <a:spcBef>
                          <a:spcPts val="0"/>
                        </a:spcBef>
                        <a:spcAft>
                          <a:spcPts val="0"/>
                        </a:spcAft>
                      </a:pPr>
                      <a:r>
                        <a:rPr sz="1500" b="1">
                          <a:solidFill>
                            <a:srgbClr val="FFFFFF"/>
                          </a:solidFill>
                          <a:latin typeface="Arial"/>
                        </a:rPr>
                        <a:t>Đầu ra / tiêu chí</a:t>
                      </a:r>
                    </a:p>
                  </a:txBody>
                  <a:tcPr marL="91440" marR="91440" marT="45720" marB="45720" anchor="ctr">
                    <a:solidFill>
                      <a:srgbClr val="142A3D"/>
                    </a:solidFill>
                  </a:tcPr>
                </a:tc>
              </a:tr>
              <a:tr h="694944">
                <a:tc>
                  <a:txBody>
                    <a:bodyPr/>
                    <a:lstStyle/>
                    <a:p>
                      <a:pPr>
                        <a:lnSpc>
                          <a:spcPct val="105000"/>
                        </a:lnSpc>
                        <a:spcBef>
                          <a:spcPts val="0"/>
                        </a:spcBef>
                        <a:spcAft>
                          <a:spcPts val="0"/>
                        </a:spcAft>
                      </a:pPr>
                      <a:r>
                        <a:rPr sz="1600" b="1">
                          <a:solidFill>
                            <a:srgbClr val="192A39"/>
                          </a:solidFill>
                          <a:latin typeface="Arial"/>
                        </a:rPr>
                        <a:t>6</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Job, trạng thái, đầu vào và lỗi API</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Tải tệp, profile, tiến độ, tải kết quả</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Luồng đầu cuối; từ chối tệp lỗi rõ ràng</a:t>
                      </a:r>
                    </a:p>
                  </a:txBody>
                  <a:tcPr marL="91440" marR="91440" marT="45720" marB="45720" anchor="ctr">
                    <a:solidFill>
                      <a:srgbClr val="FFFFFF"/>
                    </a:solidFill>
                  </a:tcPr>
                </a:tc>
              </a:tr>
              <a:tr h="694944">
                <a:tc>
                  <a:txBody>
                    <a:bodyPr/>
                    <a:lstStyle/>
                    <a:p>
                      <a:pPr>
                        <a:lnSpc>
                          <a:spcPct val="105000"/>
                        </a:lnSpc>
                        <a:spcBef>
                          <a:spcPts val="0"/>
                        </a:spcBef>
                        <a:spcAft>
                          <a:spcPts val="0"/>
                        </a:spcAft>
                      </a:pPr>
                      <a:r>
                        <a:rPr sz="1600" b="1">
                          <a:solidFill>
                            <a:srgbClr val="192A39"/>
                          </a:solidFill>
                          <a:latin typeface="Arial"/>
                        </a:rPr>
                        <a:t>7</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Phân cấp đề mục và phạm vi bìa</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Gom nhóm, ba lựa chọn, case 00</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Đúng chuỗi đề mục; giữ nguyên đúng nghĩa</a:t>
                      </a:r>
                    </a:p>
                  </a:txBody>
                  <a:tcPr marL="91440" marR="91440" marT="45720" marB="45720" anchor="ctr">
                    <a:solidFill>
                      <a:srgbClr val="E9EDF0"/>
                    </a:solidFill>
                  </a:tcPr>
                </a:tc>
              </a:tr>
              <a:tr h="694944">
                <a:tc>
                  <a:txBody>
                    <a:bodyPr/>
                    <a:lstStyle/>
                    <a:p>
                      <a:pPr>
                        <a:lnSpc>
                          <a:spcPct val="105000"/>
                        </a:lnSpc>
                        <a:spcBef>
                          <a:spcPts val="0"/>
                        </a:spcBef>
                        <a:spcAft>
                          <a:spcPts val="0"/>
                        </a:spcAft>
                      </a:pPr>
                      <a:r>
                        <a:rPr sz="1600" b="1">
                          <a:solidFill>
                            <a:srgbClr val="192A39"/>
                          </a:solidFill>
                          <a:latin typeface="Arial"/>
                        </a:rPr>
                        <a:t>8</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Bảng, ảnh, chú thích có điều kiện</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Ca gộp ô, ảnh lớn và cảnh báo</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Giữ nội dung, tỷ lệ ảnh; báo vùng bỏ qua</a:t>
                      </a:r>
                    </a:p>
                  </a:txBody>
                  <a:tcPr marL="91440" marR="91440" marT="45720" marB="45720" anchor="ctr">
                    <a:solidFill>
                      <a:srgbClr val="FFFFFF"/>
                    </a:solidFill>
                  </a:tcPr>
                </a:tc>
              </a:tr>
              <a:tr h="694944">
                <a:tc>
                  <a:txBody>
                    <a:bodyPr/>
                    <a:lstStyle/>
                    <a:p>
                      <a:pPr>
                        <a:lnSpc>
                          <a:spcPct val="105000"/>
                        </a:lnSpc>
                        <a:spcBef>
                          <a:spcPts val="0"/>
                        </a:spcBef>
                        <a:spcAft>
                          <a:spcPts val="0"/>
                        </a:spcAft>
                      </a:pPr>
                      <a:r>
                        <a:rPr sz="1600" b="1">
                          <a:solidFill>
                            <a:srgbClr val="192A39"/>
                          </a:solidFill>
                          <a:latin typeface="Arial"/>
                        </a:rPr>
                        <a:t>9</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Mục lục, section và số trang</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Đối chiếu PDF; thử Word thực tế</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Mục lục riêng trang; hồ sơ lỗi tương thích</a:t>
                      </a:r>
                    </a:p>
                  </a:txBody>
                  <a:tcPr marL="91440" marR="91440" marT="45720" marB="45720" anchor="ctr">
                    <a:solidFill>
                      <a:srgbClr val="E9EDF0"/>
                    </a:solidFill>
                  </a:tcPr>
                </a:tc>
              </a:tr>
              <a:tr h="694944">
                <a:tc>
                  <a:txBody>
                    <a:bodyPr/>
                    <a:lstStyle/>
                    <a:p>
                      <a:pPr>
                        <a:lnSpc>
                          <a:spcPct val="105000"/>
                        </a:lnSpc>
                        <a:spcBef>
                          <a:spcPts val="0"/>
                        </a:spcBef>
                        <a:spcAft>
                          <a:spcPts val="0"/>
                        </a:spcAft>
                      </a:pPr>
                      <a:r>
                        <a:rPr sz="1600" b="1">
                          <a:solidFill>
                            <a:srgbClr val="192A39"/>
                          </a:solidFill>
                          <a:latin typeface="Arial"/>
                        </a:rPr>
                        <a:t>10</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Kiểm tra toàn vẹn và vùng cố định</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UX giải thích phần được giữ nguyên</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Vùng khóa không đổi; bảo tồn khi cần</a:t>
                      </a:r>
                    </a:p>
                  </a:txBody>
                  <a:tcPr marL="91440" marR="91440" marT="45720" marB="45720"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596A77"/>
                </a:solidFill>
                <a:latin typeface="Arial"/>
              </a:rPr>
              <a:t>PHỤ LỤC  /  KẾ HOẠCH CHI TIẾT CHO NHÓM HAI NGƯỜI</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Tuần 11–15: ổn định và bàn giao.</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PHỤ LỤC  /  DÙNG KHI TRẢ LỜI CÂU HỎI</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B3</a:t>
            </a:r>
          </a:p>
        </p:txBody>
      </p:sp>
      <p:sp>
        <p:nvSpPr>
          <p:cNvPr id="7" name="TextBox 6"/>
          <p:cNvSpPr txBox="1"/>
          <p:nvPr/>
        </p:nvSpPr>
        <p:spPr>
          <a:xfrm>
            <a:off x="548640" y="5989320"/>
            <a:ext cx="11109960" cy="274320"/>
          </a:xfrm>
          <a:prstGeom prst="rect">
            <a:avLst/>
          </a:prstGeom>
          <a:noFill/>
          <a:effectLst/>
        </p:spPr>
        <p:txBody>
          <a:bodyPr wrap="square" lIns="0" rIns="0" tIns="0" bIns="0" anchor="t">
            <a:spAutoFit/>
          </a:bodyPr>
          <a:lstStyle/>
          <a:p>
            <a:pPr algn="l">
              <a:lnSpc>
                <a:spcPct val="100000"/>
              </a:lnSpc>
              <a:spcBef>
                <a:spcPts val="0"/>
              </a:spcBef>
              <a:spcAft>
                <a:spcPts val="0"/>
              </a:spcAft>
            </a:pPr>
            <a:r>
              <a:rPr sz="930" b="0" lang="vi-VN">
                <a:solidFill>
                  <a:srgbClr val="596A77"/>
                </a:solidFill>
                <a:latin typeface="Arial"/>
              </a:rPr>
              <a:t>Nguồn: báo cáo cuối kỳ, mục 8.4. Bảng rút gọn câu chữ để trình chiếu; trách nhiệm và đầu ra giữ cùng định hướng.</a:t>
            </a:r>
          </a:p>
        </p:txBody>
      </p:sp>
      <p:graphicFrame>
        <p:nvGraphicFramePr>
          <p:cNvPr id="8" name="Table 7"/>
          <p:cNvGraphicFramePr>
            <a:graphicFrameLocks noGrp="1"/>
          </p:cNvGraphicFramePr>
          <p:nvPr/>
        </p:nvGraphicFramePr>
        <p:xfrm>
          <a:off x="530352" y="1892807"/>
          <a:ext cx="11128248" cy="3950208"/>
        </p:xfrm>
        <a:graphic>
          <a:graphicData uri="http://schemas.openxmlformats.org/drawingml/2006/table">
            <a:tbl>
              <a:tblPr firstRow="1" bandRow="1">
                <a:tableStyleId>{5C22544A-7EE6-4342-B048-85BDC9FD1C3A}</a:tableStyleId>
              </a:tblPr>
              <a:tblGrid>
                <a:gridCol w="731520"/>
                <a:gridCol w="3063240"/>
                <a:gridCol w="3063240"/>
                <a:gridCol w="4270248"/>
              </a:tblGrid>
              <a:tr h="475488">
                <a:tc>
                  <a:txBody>
                    <a:bodyPr/>
                    <a:lstStyle/>
                    <a:p>
                      <a:pPr>
                        <a:lnSpc>
                          <a:spcPct val="105000"/>
                        </a:lnSpc>
                        <a:spcBef>
                          <a:spcPts val="0"/>
                        </a:spcBef>
                        <a:spcAft>
                          <a:spcPts val="0"/>
                        </a:spcAft>
                      </a:pPr>
                      <a:r>
                        <a:rPr sz="1600" b="1">
                          <a:solidFill>
                            <a:srgbClr val="FFFFFF"/>
                          </a:solidFill>
                          <a:latin typeface="Arial"/>
                        </a:rPr>
                        <a:t>Tuần</a:t>
                      </a:r>
                    </a:p>
                  </a:txBody>
                  <a:tcPr marL="91440" marR="91440" marT="45720" marB="45720" anchor="ctr">
                    <a:solidFill>
                      <a:srgbClr val="142A3D"/>
                    </a:solidFill>
                  </a:tcPr>
                </a:tc>
                <a:tc>
                  <a:txBody>
                    <a:bodyPr/>
                    <a:lstStyle/>
                    <a:p>
                      <a:pPr>
                        <a:lnSpc>
                          <a:spcPct val="105000"/>
                        </a:lnSpc>
                        <a:spcBef>
                          <a:spcPts val="0"/>
                        </a:spcBef>
                        <a:spcAft>
                          <a:spcPts val="0"/>
                        </a:spcAft>
                      </a:pPr>
                      <a:r>
                        <a:rPr sz="1500" b="1">
                          <a:solidFill>
                            <a:srgbClr val="FFFFFF"/>
                          </a:solidFill>
                          <a:latin typeface="Arial"/>
                        </a:rPr>
                        <a:t>Nguyễn Đức Mười</a:t>
                      </a:r>
                    </a:p>
                  </a:txBody>
                  <a:tcPr marL="91440" marR="91440" marT="45720" marB="45720" anchor="ctr">
                    <a:solidFill>
                      <a:srgbClr val="142A3D"/>
                    </a:solidFill>
                  </a:tcPr>
                </a:tc>
                <a:tc>
                  <a:txBody>
                    <a:bodyPr/>
                    <a:lstStyle/>
                    <a:p>
                      <a:pPr>
                        <a:lnSpc>
                          <a:spcPct val="105000"/>
                        </a:lnSpc>
                        <a:spcBef>
                          <a:spcPts val="0"/>
                        </a:spcBef>
                        <a:spcAft>
                          <a:spcPts val="0"/>
                        </a:spcAft>
                      </a:pPr>
                      <a:r>
                        <a:rPr sz="1500" b="1">
                          <a:solidFill>
                            <a:srgbClr val="FFFFFF"/>
                          </a:solidFill>
                          <a:latin typeface="Arial"/>
                        </a:rPr>
                        <a:t>Nguyễn Đức Lương</a:t>
                      </a:r>
                    </a:p>
                  </a:txBody>
                  <a:tcPr marL="91440" marR="91440" marT="45720" marB="45720" anchor="ctr">
                    <a:solidFill>
                      <a:srgbClr val="142A3D"/>
                    </a:solidFill>
                  </a:tcPr>
                </a:tc>
                <a:tc>
                  <a:txBody>
                    <a:bodyPr/>
                    <a:lstStyle/>
                    <a:p>
                      <a:pPr>
                        <a:lnSpc>
                          <a:spcPct val="105000"/>
                        </a:lnSpc>
                        <a:spcBef>
                          <a:spcPts val="0"/>
                        </a:spcBef>
                        <a:spcAft>
                          <a:spcPts val="0"/>
                        </a:spcAft>
                      </a:pPr>
                      <a:r>
                        <a:rPr sz="1500" b="1">
                          <a:solidFill>
                            <a:srgbClr val="FFFFFF"/>
                          </a:solidFill>
                          <a:latin typeface="Arial"/>
                        </a:rPr>
                        <a:t>Đầu ra / tiêu chí</a:t>
                      </a:r>
                    </a:p>
                  </a:txBody>
                  <a:tcPr marL="91440" marR="91440" marT="45720" marB="45720" anchor="ctr">
                    <a:solidFill>
                      <a:srgbClr val="142A3D"/>
                    </a:solidFill>
                  </a:tcPr>
                </a:tc>
              </a:tr>
              <a:tr h="694944">
                <a:tc>
                  <a:txBody>
                    <a:bodyPr/>
                    <a:lstStyle/>
                    <a:p>
                      <a:pPr>
                        <a:lnSpc>
                          <a:spcPct val="105000"/>
                        </a:lnSpc>
                        <a:spcBef>
                          <a:spcPts val="0"/>
                        </a:spcBef>
                        <a:spcAft>
                          <a:spcPts val="0"/>
                        </a:spcAft>
                      </a:pPr>
                      <a:r>
                        <a:rPr sz="1600" b="1">
                          <a:solidFill>
                            <a:srgbClr val="192A39"/>
                          </a:solidFill>
                          <a:latin typeface="Arial"/>
                        </a:rPr>
                        <a:t>11</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Bộ dựng, phông, giới hạn và chẩn đoán</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Xem trước, cảnh báo, trạng thái một phần</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Lỗi PDF không che Word hợp lệ</a:t>
                      </a:r>
                    </a:p>
                  </a:txBody>
                  <a:tcPr marL="91440" marR="91440" marT="45720" marB="45720" anchor="ctr">
                    <a:solidFill>
                      <a:srgbClr val="FFFFFF"/>
                    </a:solidFill>
                  </a:tcPr>
                </a:tc>
              </a:tr>
              <a:tr h="694944">
                <a:tc>
                  <a:txBody>
                    <a:bodyPr/>
                    <a:lstStyle/>
                    <a:p>
                      <a:pPr>
                        <a:lnSpc>
                          <a:spcPct val="105000"/>
                        </a:lnSpc>
                        <a:spcBef>
                          <a:spcPts val="0"/>
                        </a:spcBef>
                        <a:spcAft>
                          <a:spcPts val="0"/>
                        </a:spcAft>
                      </a:pPr>
                      <a:r>
                        <a:rPr sz="1600" b="1">
                          <a:solidFill>
                            <a:srgbClr val="192A39"/>
                          </a:solidFill>
                          <a:latin typeface="Arial"/>
                        </a:rPr>
                        <a:t>12</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TTL, hàng đợi, hủy/xóa, đóng gói</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Hết hạn, giới hạn, hướng dẫn Windows</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Chặn phiên hết hạn; xóa đúng vòng đời</a:t>
                      </a:r>
                    </a:p>
                  </a:txBody>
                  <a:tcPr marL="91440" marR="91440" marT="45720" marB="45720" anchor="ctr">
                    <a:solidFill>
                      <a:srgbClr val="E9EDF0"/>
                    </a:solidFill>
                  </a:tcPr>
                </a:tc>
              </a:tr>
              <a:tr h="694944">
                <a:tc>
                  <a:txBody>
                    <a:bodyPr/>
                    <a:lstStyle/>
                    <a:p>
                      <a:pPr>
                        <a:lnSpc>
                          <a:spcPct val="105000"/>
                        </a:lnSpc>
                        <a:spcBef>
                          <a:spcPts val="0"/>
                        </a:spcBef>
                        <a:spcAft>
                          <a:spcPts val="0"/>
                        </a:spcAft>
                      </a:pPr>
                      <a:r>
                        <a:rPr sz="1600" b="1">
                          <a:solidFill>
                            <a:srgbClr val="192A39"/>
                          </a:solidFill>
                          <a:latin typeface="Arial"/>
                        </a:rPr>
                        <a:t>13</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Sửa hồi quy và lỗi Word ưu tiên cao</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Tự động, Windows/Word, thử dùng</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Must đạt; công khai giới hạn còn lại</a:t>
                      </a:r>
                    </a:p>
                  </a:txBody>
                  <a:tcPr marL="91440" marR="91440" marT="45720" marB="45720" anchor="ctr">
                    <a:solidFill>
                      <a:srgbClr val="FFFFFF"/>
                    </a:solidFill>
                  </a:tcPr>
                </a:tc>
              </a:tr>
              <a:tr h="694944">
                <a:tc>
                  <a:txBody>
                    <a:bodyPr/>
                    <a:lstStyle/>
                    <a:p>
                      <a:pPr>
                        <a:lnSpc>
                          <a:spcPct val="105000"/>
                        </a:lnSpc>
                        <a:spcBef>
                          <a:spcPts val="0"/>
                        </a:spcBef>
                        <a:spcAft>
                          <a:spcPts val="0"/>
                        </a:spcAft>
                      </a:pPr>
                      <a:r>
                        <a:rPr sz="1600" b="1">
                          <a:solidFill>
                            <a:srgbClr val="192A39"/>
                          </a:solidFill>
                          <a:latin typeface="Arial"/>
                        </a:rPr>
                        <a:t>14</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Kiến trúc, API và cấu hình tái lập</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Minh chứng, báo cáo và kịch bản demo</a:t>
                      </a:r>
                    </a:p>
                  </a:txBody>
                  <a:tcPr marL="91440" marR="91440" marT="45720" marB="45720" anchor="ctr">
                    <a:solidFill>
                      <a:srgbClr val="E9EDF0"/>
                    </a:solidFill>
                  </a:tcPr>
                </a:tc>
                <a:tc>
                  <a:txBody>
                    <a:bodyPr/>
                    <a:lstStyle/>
                    <a:p>
                      <a:pPr>
                        <a:lnSpc>
                          <a:spcPct val="105000"/>
                        </a:lnSpc>
                        <a:spcBef>
                          <a:spcPts val="0"/>
                        </a:spcBef>
                        <a:spcAft>
                          <a:spcPts val="0"/>
                        </a:spcAft>
                      </a:pPr>
                      <a:r>
                        <a:rPr sz="1500" b="0">
                          <a:solidFill>
                            <a:srgbClr val="192A39"/>
                          </a:solidFill>
                          <a:latin typeface="Arial"/>
                        </a:rPr>
                        <a:t>Tài liệu khớp mã nguồn; chạy lại được</a:t>
                      </a:r>
                    </a:p>
                  </a:txBody>
                  <a:tcPr marL="91440" marR="91440" marT="45720" marB="45720" anchor="ctr">
                    <a:solidFill>
                      <a:srgbClr val="E9EDF0"/>
                    </a:solidFill>
                  </a:tcPr>
                </a:tc>
              </a:tr>
              <a:tr h="694944">
                <a:tc>
                  <a:txBody>
                    <a:bodyPr/>
                    <a:lstStyle/>
                    <a:p>
                      <a:pPr>
                        <a:lnSpc>
                          <a:spcPct val="105000"/>
                        </a:lnSpc>
                        <a:spcBef>
                          <a:spcPts val="0"/>
                        </a:spcBef>
                        <a:spcAft>
                          <a:spcPts val="0"/>
                        </a:spcAft>
                      </a:pPr>
                      <a:r>
                        <a:rPr sz="1600" b="1">
                          <a:solidFill>
                            <a:srgbClr val="192A39"/>
                          </a:solidFill>
                          <a:latin typeface="Arial"/>
                        </a:rPr>
                        <a:t>15</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Đóng băng phiên bản; hỗ trợ nghiệm thu</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Trình bày, demo, tài liệu và bàn giao</a:t>
                      </a:r>
                    </a:p>
                  </a:txBody>
                  <a:tcPr marL="91440" marR="91440" marT="45720" marB="45720" anchor="ctr">
                    <a:solidFill>
                      <a:srgbClr val="FFFFFF"/>
                    </a:solidFill>
                  </a:tcPr>
                </a:tc>
                <a:tc>
                  <a:txBody>
                    <a:bodyPr/>
                    <a:lstStyle/>
                    <a:p>
                      <a:pPr>
                        <a:lnSpc>
                          <a:spcPct val="105000"/>
                        </a:lnSpc>
                        <a:spcBef>
                          <a:spcPts val="0"/>
                        </a:spcBef>
                        <a:spcAft>
                          <a:spcPts val="0"/>
                        </a:spcAft>
                      </a:pPr>
                      <a:r>
                        <a:rPr sz="1500" b="0">
                          <a:solidFill>
                            <a:srgbClr val="192A39"/>
                          </a:solidFill>
                          <a:latin typeface="Arial"/>
                        </a:rPr>
                        <a:t>Có phiên bản, hướng dẫn và bằng chứng</a:t>
                      </a:r>
                    </a:p>
                  </a:txBody>
                  <a:tcPr marL="91440" marR="91440" marT="45720" marB="45720"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596A77"/>
                </a:solidFill>
                <a:latin typeface="Arial"/>
              </a:rPr>
              <a:t>PHỤ LỤC  /  ĐỐI CHIẾU VÀ NGUỒN DỮ LIỆU</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Số liệu khảo sát: lựa chọn nguồn có chủ đích.</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PHỤ LỤC  /  DÙNG KHI TRẢ LỜI CÂU HỎI</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B4</a:t>
            </a:r>
          </a:p>
        </p:txBody>
      </p:sp>
      <p:sp>
        <p:nvSpPr>
          <p:cNvPr id="7" name="TextBox 6"/>
          <p:cNvSpPr txBox="1"/>
          <p:nvPr/>
        </p:nvSpPr>
        <p:spPr>
          <a:xfrm>
            <a:off x="548640" y="5989320"/>
            <a:ext cx="11109960" cy="274320"/>
          </a:xfrm>
          <a:prstGeom prst="rect">
            <a:avLst/>
          </a:prstGeom>
          <a:noFill/>
          <a:effectLst/>
        </p:spPr>
        <p:txBody>
          <a:bodyPr wrap="square" lIns="0" rIns="0" tIns="0" bIns="0" anchor="t">
            <a:spAutoFit/>
          </a:bodyPr>
          <a:lstStyle/>
          <a:p>
            <a:pPr algn="l">
              <a:lnSpc>
                <a:spcPct val="100000"/>
              </a:lnSpc>
              <a:spcBef>
                <a:spcPts val="0"/>
              </a:spcBef>
              <a:spcAft>
                <a:spcPts val="0"/>
              </a:spcAft>
            </a:pPr>
            <a:r>
              <a:rPr sz="930" b="0" lang="vi-VN">
                <a:solidFill>
                  <a:srgbClr val="596A77"/>
                </a:solidFill>
                <a:latin typeface="Arial"/>
              </a:rPr>
              <a:t>Nguồn gốc: N57-57_Nguyễn Đức Mười_69_Nguyễn Đức Lương_tuần4.pptx, slide 4–6. Không công bố tập phản hồi thô.</a:t>
            </a:r>
          </a:p>
        </p:txBody>
      </p:sp>
      <p:sp>
        <p:nvSpPr>
          <p:cNvPr id="8" name="Rounded Rectangle 7"/>
          <p:cNvSpPr/>
          <p:nvPr/>
        </p:nvSpPr>
        <p:spPr>
          <a:xfrm>
            <a:off x="530352" y="1984248"/>
            <a:ext cx="5486400" cy="3639312"/>
          </a:xfrm>
          <a:prstGeom prst="roundRect">
            <a:avLst>
              <a:gd name="adj" fmla="val 8000"/>
            </a:avLst>
          </a:prstGeom>
          <a:solidFill>
            <a:srgbClr val="FFFFFF"/>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952" y="2249424"/>
            <a:ext cx="5020056" cy="393192"/>
          </a:xfrm>
          <a:prstGeom prst="rect">
            <a:avLst/>
          </a:prstGeom>
          <a:noFill/>
          <a:effectLst/>
        </p:spPr>
        <p:txBody>
          <a:bodyPr wrap="square" lIns="0" rIns="0" tIns="0" bIns="0" anchor="t">
            <a:spAutoFit/>
          </a:bodyPr>
          <a:lstStyle/>
          <a:p>
            <a:pPr algn="l">
              <a:lnSpc>
                <a:spcPct val="113000"/>
              </a:lnSpc>
              <a:spcBef>
                <a:spcPts val="0"/>
              </a:spcBef>
              <a:spcAft>
                <a:spcPts val="0"/>
              </a:spcAft>
            </a:pPr>
            <a:r>
              <a:rPr sz="2000" b="1" lang="vi-VN">
                <a:solidFill>
                  <a:srgbClr val="0B796B"/>
                </a:solidFill>
                <a:latin typeface="Arial"/>
              </a:rPr>
              <a:t>BÀI CHÍNH DÙNG PHẦN CHỮ</a:t>
            </a:r>
          </a:p>
        </p:txBody>
      </p:sp>
      <p:sp>
        <p:nvSpPr>
          <p:cNvPr id="10" name="TextBox 9"/>
          <p:cNvSpPr txBox="1"/>
          <p:nvPr/>
        </p:nvSpPr>
        <p:spPr>
          <a:xfrm>
            <a:off x="758952" y="2916936"/>
            <a:ext cx="5020056" cy="384048"/>
          </a:xfrm>
          <a:prstGeom prst="rect">
            <a:avLst/>
          </a:prstGeom>
          <a:noFill/>
          <a:effectLst/>
        </p:spPr>
        <p:txBody>
          <a:bodyPr wrap="square" lIns="0" rIns="0" tIns="0" bIns="0" anchor="t">
            <a:spAutoFit/>
          </a:bodyPr>
          <a:lstStyle/>
          <a:p>
            <a:pPr algn="l">
              <a:lnSpc>
                <a:spcPct val="113000"/>
              </a:lnSpc>
              <a:spcBef>
                <a:spcPts val="0"/>
              </a:spcBef>
              <a:spcAft>
                <a:spcPts val="0"/>
              </a:spcAft>
            </a:pPr>
            <a:r>
              <a:rPr sz="1800" b="0" lang="vi-VN">
                <a:solidFill>
                  <a:srgbClr val="192A39"/>
                </a:solidFill>
                <a:latin typeface="Arial"/>
              </a:rPr>
              <a:t>•  15 phản hồi hợp lệ</a:t>
            </a:r>
          </a:p>
        </p:txBody>
      </p:sp>
      <p:sp>
        <p:nvSpPr>
          <p:cNvPr id="11" name="TextBox 10"/>
          <p:cNvSpPr txBox="1"/>
          <p:nvPr/>
        </p:nvSpPr>
        <p:spPr>
          <a:xfrm>
            <a:off x="758952" y="3419856"/>
            <a:ext cx="5020056" cy="384048"/>
          </a:xfrm>
          <a:prstGeom prst="rect">
            <a:avLst/>
          </a:prstGeom>
          <a:noFill/>
          <a:effectLst/>
        </p:spPr>
        <p:txBody>
          <a:bodyPr wrap="square" lIns="0" rIns="0" tIns="0" bIns="0" anchor="t">
            <a:spAutoFit/>
          </a:bodyPr>
          <a:lstStyle/>
          <a:p>
            <a:pPr algn="l">
              <a:lnSpc>
                <a:spcPct val="113000"/>
              </a:lnSpc>
              <a:spcBef>
                <a:spcPts val="0"/>
              </a:spcBef>
              <a:spcAft>
                <a:spcPts val="0"/>
              </a:spcAft>
            </a:pPr>
            <a:r>
              <a:rPr sz="1800" b="0" lang="vi-VN">
                <a:solidFill>
                  <a:srgbClr val="192A39"/>
                </a:solidFill>
                <a:latin typeface="Arial"/>
              </a:rPr>
              <a:t>•  60%: 30–60 phút; 20%: trên 1 giờ</a:t>
            </a:r>
          </a:p>
        </p:txBody>
      </p:sp>
      <p:sp>
        <p:nvSpPr>
          <p:cNvPr id="12" name="TextBox 11"/>
          <p:cNvSpPr txBox="1"/>
          <p:nvPr/>
        </p:nvSpPr>
        <p:spPr>
          <a:xfrm>
            <a:off x="758952" y="3922776"/>
            <a:ext cx="5020056" cy="384048"/>
          </a:xfrm>
          <a:prstGeom prst="rect">
            <a:avLst/>
          </a:prstGeom>
          <a:noFill/>
          <a:effectLst/>
        </p:spPr>
        <p:txBody>
          <a:bodyPr wrap="square" lIns="0" rIns="0" tIns="0" bIns="0" anchor="t">
            <a:spAutoFit/>
          </a:bodyPr>
          <a:lstStyle/>
          <a:p>
            <a:pPr algn="l">
              <a:lnSpc>
                <a:spcPct val="113000"/>
              </a:lnSpc>
              <a:spcBef>
                <a:spcPts val="0"/>
              </a:spcBef>
              <a:spcAft>
                <a:spcPts val="0"/>
              </a:spcAft>
            </a:pPr>
            <a:r>
              <a:rPr sz="1800" b="0" lang="vi-VN">
                <a:solidFill>
                  <a:srgbClr val="192A39"/>
                </a:solidFill>
                <a:latin typeface="Arial"/>
              </a:rPr>
              <a:t>•  40%: lề; 40%: phông; 40%: mục lục</a:t>
            </a:r>
          </a:p>
        </p:txBody>
      </p:sp>
      <p:sp>
        <p:nvSpPr>
          <p:cNvPr id="13" name="TextBox 12"/>
          <p:cNvSpPr txBox="1"/>
          <p:nvPr/>
        </p:nvSpPr>
        <p:spPr>
          <a:xfrm>
            <a:off x="758952" y="4425696"/>
            <a:ext cx="5020056" cy="384048"/>
          </a:xfrm>
          <a:prstGeom prst="rect">
            <a:avLst/>
          </a:prstGeom>
          <a:noFill/>
          <a:effectLst/>
        </p:spPr>
        <p:txBody>
          <a:bodyPr wrap="square" lIns="0" rIns="0" tIns="0" bIns="0" anchor="t">
            <a:spAutoFit/>
          </a:bodyPr>
          <a:lstStyle/>
          <a:p>
            <a:pPr algn="l">
              <a:lnSpc>
                <a:spcPct val="113000"/>
              </a:lnSpc>
              <a:spcBef>
                <a:spcPts val="0"/>
              </a:spcBef>
              <a:spcAft>
                <a:spcPts val="0"/>
              </a:spcAft>
            </a:pPr>
            <a:r>
              <a:rPr sz="1800" b="0" lang="vi-VN">
                <a:solidFill>
                  <a:srgbClr val="192A39"/>
                </a:solidFill>
                <a:latin typeface="Arial"/>
              </a:rPr>
              <a:t>•  20%: vỡ khung khi chia cột</a:t>
            </a:r>
          </a:p>
        </p:txBody>
      </p:sp>
      <p:sp>
        <p:nvSpPr>
          <p:cNvPr id="14" name="Rounded Rectangle 13"/>
          <p:cNvSpPr/>
          <p:nvPr/>
        </p:nvSpPr>
        <p:spPr>
          <a:xfrm>
            <a:off x="6245352" y="1984248"/>
            <a:ext cx="5413248" cy="3639312"/>
          </a:xfrm>
          <a:prstGeom prst="roundRect">
            <a:avLst>
              <a:gd name="adj" fmla="val 8000"/>
            </a:avLst>
          </a:prstGeom>
          <a:solidFill>
            <a:srgbClr val="FBF0DA"/>
          </a:solidFill>
          <a:ln w="8890">
            <a:solidFill>
              <a:srgbClr val="DADF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73952" y="2249424"/>
            <a:ext cx="4910328" cy="393192"/>
          </a:xfrm>
          <a:prstGeom prst="rect">
            <a:avLst/>
          </a:prstGeom>
          <a:noFill/>
          <a:effectLst/>
        </p:spPr>
        <p:txBody>
          <a:bodyPr wrap="square" lIns="0" rIns="0" tIns="0" bIns="0" anchor="t">
            <a:spAutoFit/>
          </a:bodyPr>
          <a:lstStyle/>
          <a:p>
            <a:pPr algn="l">
              <a:lnSpc>
                <a:spcPct val="113000"/>
              </a:lnSpc>
              <a:spcBef>
                <a:spcPts val="0"/>
              </a:spcBef>
              <a:spcAft>
                <a:spcPts val="0"/>
              </a:spcAft>
            </a:pPr>
            <a:r>
              <a:rPr sz="2000" b="1" lang="vi-VN">
                <a:solidFill>
                  <a:srgbClr val="C18A2C"/>
                </a:solidFill>
                <a:latin typeface="Arial"/>
              </a:rPr>
              <a:t>ĐIỂM CHƯA THỐNG NHẤT</a:t>
            </a:r>
          </a:p>
        </p:txBody>
      </p:sp>
      <p:sp>
        <p:nvSpPr>
          <p:cNvPr id="16" name="TextBox 15"/>
          <p:cNvSpPr txBox="1"/>
          <p:nvPr/>
        </p:nvSpPr>
        <p:spPr>
          <a:xfrm>
            <a:off x="6473952" y="2944368"/>
            <a:ext cx="4901184" cy="2103120"/>
          </a:xfrm>
          <a:prstGeom prst="rect">
            <a:avLst/>
          </a:prstGeom>
          <a:noFill/>
          <a:effectLst/>
        </p:spPr>
        <p:txBody>
          <a:bodyPr wrap="square" lIns="0" rIns="0" tIns="0" bIns="0" anchor="t">
            <a:spAutoFit/>
          </a:bodyPr>
          <a:lstStyle/>
          <a:p>
            <a:pPr algn="l">
              <a:lnSpc>
                <a:spcPct val="120000"/>
              </a:lnSpc>
              <a:spcBef>
                <a:spcPts val="0"/>
              </a:spcBef>
              <a:spcAft>
                <a:spcPts val="0"/>
              </a:spcAft>
            </a:pPr>
            <a:r>
              <a:rPr sz="2100" b="0" lang="vi-VN">
                <a:solidFill>
                  <a:srgbClr val="192A39"/>
                </a:solidFill>
                <a:latin typeface="Arial"/>
              </a:rPr>
              <a:t>Ảnh biểu đồ ghi 56,3% và 25%;</a:t>
            </a:r>
          </a:p>
          <a:p>
            <a:pPr algn="l">
              <a:lnSpc>
                <a:spcPct val="120000"/>
              </a:lnSpc>
              <a:spcBef>
                <a:spcPts val="0"/>
              </a:spcBef>
              <a:spcAft>
                <a:spcPts val="0"/>
              </a:spcAft>
            </a:pPr>
            <a:r>
              <a:rPr sz="2100" b="0" lang="vi-VN">
                <a:solidFill>
                  <a:srgbClr val="192A39"/>
                </a:solidFill>
                <a:latin typeface="Arial"/>
              </a:rPr>
              <a:t>các số đếm tương ứng 16 phản hồi.</a:t>
            </a:r>
          </a:p>
          <a:p>
            <a:pPr algn="l">
              <a:lnSpc>
                <a:spcPct val="120000"/>
              </a:lnSpc>
              <a:spcBef>
                <a:spcPts val="0"/>
              </a:spcBef>
              <a:spcAft>
                <a:spcPts val="0"/>
              </a:spcAft>
            </a:pPr>
            <a:r>
              <a:rPr sz="2100" b="0" lang="vi-VN">
                <a:solidFill>
                  <a:srgbClr val="192A39"/>
                </a:solidFill>
                <a:latin typeface="Arial"/>
              </a:rPr>
              <a:t/>
            </a:r>
          </a:p>
          <a:p>
            <a:pPr algn="l">
              <a:lnSpc>
                <a:spcPct val="120000"/>
              </a:lnSpc>
              <a:spcBef>
                <a:spcPts val="0"/>
              </a:spcBef>
              <a:spcAft>
                <a:spcPts val="0"/>
              </a:spcAft>
            </a:pPr>
            <a:r>
              <a:rPr sz="2100" b="0" lang="vi-VN">
                <a:solidFill>
                  <a:srgbClr val="192A39"/>
                </a:solidFill>
                <a:latin typeface="Arial"/>
              </a:rPr>
              <a:t>Không trộn hai bộ số liệu.</a:t>
            </a:r>
          </a:p>
          <a:p>
            <a:pPr algn="l">
              <a:lnSpc>
                <a:spcPct val="120000"/>
              </a:lnSpc>
              <a:spcBef>
                <a:spcPts val="0"/>
              </a:spcBef>
              <a:spcAft>
                <a:spcPts val="0"/>
              </a:spcAft>
            </a:pPr>
            <a:r>
              <a:rPr sz="2100" b="0" lang="vi-VN">
                <a:solidFill>
                  <a:srgbClr val="192A39"/>
                </a:solidFill>
                <a:latin typeface="Arial"/>
              </a:rPr>
              <a:t>Cần đối chiếu dữ liệu thô khi có.</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7F6F2"/>
        </a:solidFill>
        <a:effectLst/>
      </p:bgPr>
    </p:bg>
    <p:spTree>
      <p:nvGrpSpPr>
        <p:cNvPr id="1" name=""/>
        <p:cNvGrpSpPr/>
        <p:nvPr/>
      </p:nvGrpSpPr>
      <p:grpSpPr/>
      <p:sp>
        <p:nvSpPr>
          <p:cNvPr id="2" name="TextBox 1"/>
          <p:cNvSpPr txBox="1"/>
          <p:nvPr/>
        </p:nvSpPr>
        <p:spPr>
          <a:xfrm>
            <a:off x="530352" y="310896"/>
            <a:ext cx="10881360" cy="237744"/>
          </a:xfrm>
          <a:prstGeom prst="rect">
            <a:avLst/>
          </a:prstGeom>
          <a:noFill/>
          <a:effectLst/>
        </p:spPr>
        <p:txBody>
          <a:bodyPr wrap="square" lIns="0" rIns="0" tIns="0" bIns="0" anchor="t">
            <a:spAutoFit/>
          </a:bodyPr>
          <a:lstStyle/>
          <a:p>
            <a:pPr algn="l">
              <a:lnSpc>
                <a:spcPct val="113000"/>
              </a:lnSpc>
              <a:spcBef>
                <a:spcPts val="0"/>
              </a:spcBef>
              <a:spcAft>
                <a:spcPts val="0"/>
              </a:spcAft>
            </a:pPr>
            <a:r>
              <a:rPr sz="1100" b="1" lang="vi-VN">
                <a:solidFill>
                  <a:srgbClr val="596A77"/>
                </a:solidFill>
                <a:latin typeface="Arial"/>
              </a:rPr>
              <a:t>PHỤ LỤC  /  CHUẨN BỊ PHẦN HỎI ĐÁP</a:t>
            </a:r>
          </a:p>
        </p:txBody>
      </p:sp>
      <p:sp>
        <p:nvSpPr>
          <p:cNvPr id="3" name="TextBox 2"/>
          <p:cNvSpPr txBox="1"/>
          <p:nvPr/>
        </p:nvSpPr>
        <p:spPr>
          <a:xfrm>
            <a:off x="530352" y="832104"/>
            <a:ext cx="11064240" cy="969264"/>
          </a:xfrm>
          <a:prstGeom prst="rect">
            <a:avLst/>
          </a:prstGeom>
          <a:noFill/>
          <a:effectLst/>
        </p:spPr>
        <p:txBody>
          <a:bodyPr wrap="square" lIns="0" rIns="0" tIns="0" bIns="0" anchor="t">
            <a:spAutoFit/>
          </a:bodyPr>
          <a:lstStyle/>
          <a:p>
            <a:pPr algn="l">
              <a:lnSpc>
                <a:spcPct val="105000"/>
              </a:lnSpc>
              <a:spcBef>
                <a:spcPts val="0"/>
              </a:spcBef>
              <a:spcAft>
                <a:spcPts val="0"/>
              </a:spcAft>
            </a:pPr>
            <a:r>
              <a:rPr sz="3100" b="1" lang="vi-VN">
                <a:solidFill>
                  <a:srgbClr val="192A39"/>
                </a:solidFill>
                <a:latin typeface="Arial"/>
              </a:rPr>
              <a:t>Nguồn và các câu trả lời cần nói chính xác.</a:t>
            </a:r>
          </a:p>
        </p:txBody>
      </p:sp>
      <p:cxnSp>
        <p:nvCxnSpPr>
          <p:cNvPr id="4" name="Connector 3"/>
          <p:cNvCxnSpPr/>
          <p:nvPr/>
        </p:nvCxnSpPr>
        <p:spPr>
          <a:xfrm>
            <a:off x="530352" y="6345936"/>
            <a:ext cx="11128248"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501384"/>
            <a:ext cx="9144000" cy="182880"/>
          </a:xfrm>
          <a:prstGeom prst="rect">
            <a:avLst/>
          </a:prstGeom>
          <a:noFill/>
          <a:effectLst/>
        </p:spPr>
        <p:txBody>
          <a:bodyPr wrap="square" lIns="0" rIns="0" tIns="0" bIns="0" anchor="t">
            <a:spAutoFit/>
          </a:bodyPr>
          <a:lstStyle/>
          <a:p>
            <a:pPr algn="l">
              <a:lnSpc>
                <a:spcPct val="113000"/>
              </a:lnSpc>
              <a:spcBef>
                <a:spcPts val="0"/>
              </a:spcBef>
              <a:spcAft>
                <a:spcPts val="0"/>
              </a:spcAft>
            </a:pPr>
            <a:r>
              <a:rPr sz="900" b="0" lang="vi-VN">
                <a:solidFill>
                  <a:srgbClr val="596A77"/>
                </a:solidFill>
                <a:latin typeface="Arial"/>
              </a:rPr>
              <a:t>PHỤ LỤC  /  DÙNG KHI TRẢ LỜI CÂU HỎI</a:t>
            </a:r>
          </a:p>
        </p:txBody>
      </p:sp>
      <p:sp>
        <p:nvSpPr>
          <p:cNvPr id="6" name="TextBox 5"/>
          <p:cNvSpPr txBox="1"/>
          <p:nvPr/>
        </p:nvSpPr>
        <p:spPr>
          <a:xfrm>
            <a:off x="10698480" y="6464808"/>
            <a:ext cx="960120" cy="228600"/>
          </a:xfrm>
          <a:prstGeom prst="rect">
            <a:avLst/>
          </a:prstGeom>
          <a:noFill/>
          <a:effectLst/>
        </p:spPr>
        <p:txBody>
          <a:bodyPr wrap="square" lIns="0" rIns="0" tIns="0" bIns="0" anchor="t">
            <a:spAutoFit/>
          </a:bodyPr>
          <a:lstStyle/>
          <a:p>
            <a:pPr algn="r">
              <a:lnSpc>
                <a:spcPct val="113000"/>
              </a:lnSpc>
              <a:spcBef>
                <a:spcPts val="0"/>
              </a:spcBef>
              <a:spcAft>
                <a:spcPts val="0"/>
              </a:spcAft>
            </a:pPr>
            <a:r>
              <a:rPr sz="1000" b="1" lang="vi-VN">
                <a:solidFill>
                  <a:srgbClr val="596A77"/>
                </a:solidFill>
                <a:latin typeface="Arial"/>
              </a:rPr>
              <a:t>B5</a:t>
            </a:r>
          </a:p>
        </p:txBody>
      </p:sp>
      <p:sp>
        <p:nvSpPr>
          <p:cNvPr id="7" name="TextBox 6"/>
          <p:cNvSpPr txBox="1"/>
          <p:nvPr/>
        </p:nvSpPr>
        <p:spPr>
          <a:xfrm>
            <a:off x="548640" y="5989320"/>
            <a:ext cx="11109960" cy="274320"/>
          </a:xfrm>
          <a:prstGeom prst="rect">
            <a:avLst/>
          </a:prstGeom>
          <a:noFill/>
          <a:effectLst/>
        </p:spPr>
        <p:txBody>
          <a:bodyPr wrap="square" lIns="0" rIns="0" tIns="0" bIns="0" anchor="t">
            <a:spAutoFit/>
          </a:bodyPr>
          <a:lstStyle/>
          <a:p>
            <a:pPr algn="l">
              <a:lnSpc>
                <a:spcPct val="100000"/>
              </a:lnSpc>
              <a:spcBef>
                <a:spcPts val="0"/>
              </a:spcBef>
              <a:spcAft>
                <a:spcPts val="0"/>
              </a:spcAft>
            </a:pPr>
            <a:r>
              <a:rPr sz="930" b="0" lang="vi-VN">
                <a:solidFill>
                  <a:srgbClr val="596A77"/>
                </a:solidFill>
                <a:latin typeface="Arial"/>
              </a:rPr>
              <a:t>Tài liệu đối chiếu: báo cáo cuối kỳ, Chương 5–9; kho mã github.com/ndm2006/DocLint, mốc lõi b0957f2.</a:t>
            </a:r>
          </a:p>
        </p:txBody>
      </p:sp>
      <p:sp>
        <p:nvSpPr>
          <p:cNvPr id="8" name="TextBox 7"/>
          <p:cNvSpPr txBox="1"/>
          <p:nvPr/>
        </p:nvSpPr>
        <p:spPr>
          <a:xfrm>
            <a:off x="585216" y="1920240"/>
            <a:ext cx="3858768" cy="393192"/>
          </a:xfrm>
          <a:prstGeom prst="rect">
            <a:avLst/>
          </a:prstGeom>
          <a:noFill/>
          <a:effectLst/>
        </p:spPr>
        <p:txBody>
          <a:bodyPr wrap="square" lIns="0" rIns="0" tIns="0" bIns="0" anchor="t">
            <a:spAutoFit/>
          </a:bodyPr>
          <a:lstStyle/>
          <a:p>
            <a:pPr algn="l">
              <a:lnSpc>
                <a:spcPct val="113000"/>
              </a:lnSpc>
              <a:spcBef>
                <a:spcPts val="0"/>
              </a:spcBef>
              <a:spcAft>
                <a:spcPts val="0"/>
              </a:spcAft>
            </a:pPr>
            <a:r>
              <a:rPr sz="2000" b="1" lang="vi-VN">
                <a:solidFill>
                  <a:srgbClr val="B52033"/>
                </a:solidFill>
                <a:latin typeface="Arial"/>
              </a:rPr>
              <a:t>Có dùng AI không?</a:t>
            </a:r>
          </a:p>
        </p:txBody>
      </p:sp>
      <p:sp>
        <p:nvSpPr>
          <p:cNvPr id="9" name="TextBox 8"/>
          <p:cNvSpPr txBox="1"/>
          <p:nvPr/>
        </p:nvSpPr>
        <p:spPr>
          <a:xfrm>
            <a:off x="4608576" y="1920240"/>
            <a:ext cx="6903720" cy="557784"/>
          </a:xfrm>
          <a:prstGeom prst="rect">
            <a:avLst/>
          </a:prstGeom>
          <a:noFill/>
          <a:effectLst/>
        </p:spPr>
        <p:txBody>
          <a:bodyPr wrap="square" lIns="0" rIns="0" tIns="0" bIns="0" anchor="t">
            <a:spAutoFit/>
          </a:bodyPr>
          <a:lstStyle/>
          <a:p>
            <a:pPr algn="l">
              <a:lnSpc>
                <a:spcPct val="113000"/>
              </a:lnSpc>
              <a:spcBef>
                <a:spcPts val="0"/>
              </a:spcBef>
              <a:spcAft>
                <a:spcPts val="0"/>
              </a:spcAft>
            </a:pPr>
            <a:r>
              <a:rPr sz="1900" b="0" lang="vi-VN">
                <a:solidFill>
                  <a:srgbClr val="192A39"/>
                </a:solidFill>
                <a:latin typeface="Arial"/>
              </a:rPr>
              <a:t>V1 dùng quy tắc; chưa cần API AI trả phí.</a:t>
            </a:r>
          </a:p>
        </p:txBody>
      </p:sp>
      <p:cxnSp>
        <p:nvCxnSpPr>
          <p:cNvPr id="10" name="Connector 9"/>
          <p:cNvCxnSpPr/>
          <p:nvPr/>
        </p:nvCxnSpPr>
        <p:spPr>
          <a:xfrm>
            <a:off x="585216" y="2523744"/>
            <a:ext cx="10981944"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585216" y="2660904"/>
            <a:ext cx="3858768" cy="393192"/>
          </a:xfrm>
          <a:prstGeom prst="rect">
            <a:avLst/>
          </a:prstGeom>
          <a:noFill/>
          <a:effectLst/>
        </p:spPr>
        <p:txBody>
          <a:bodyPr wrap="square" lIns="0" rIns="0" tIns="0" bIns="0" anchor="t">
            <a:spAutoFit/>
          </a:bodyPr>
          <a:lstStyle/>
          <a:p>
            <a:pPr algn="l">
              <a:lnSpc>
                <a:spcPct val="113000"/>
              </a:lnSpc>
              <a:spcBef>
                <a:spcPts val="0"/>
              </a:spcBef>
              <a:spcAft>
                <a:spcPts val="0"/>
              </a:spcAft>
            </a:pPr>
            <a:r>
              <a:rPr sz="2000" b="1" lang="vi-VN">
                <a:solidFill>
                  <a:srgbClr val="B52033"/>
                </a:solidFill>
                <a:latin typeface="Arial"/>
              </a:rPr>
              <a:t>Có sửa mọi báo cáo không?</a:t>
            </a:r>
          </a:p>
        </p:txBody>
      </p:sp>
      <p:sp>
        <p:nvSpPr>
          <p:cNvPr id="12" name="TextBox 11"/>
          <p:cNvSpPr txBox="1"/>
          <p:nvPr/>
        </p:nvSpPr>
        <p:spPr>
          <a:xfrm>
            <a:off x="4608576" y="2660904"/>
            <a:ext cx="6903720" cy="557784"/>
          </a:xfrm>
          <a:prstGeom prst="rect">
            <a:avLst/>
          </a:prstGeom>
          <a:noFill/>
          <a:effectLst/>
        </p:spPr>
        <p:txBody>
          <a:bodyPr wrap="square" lIns="0" rIns="0" tIns="0" bIns="0" anchor="t">
            <a:spAutoFit/>
          </a:bodyPr>
          <a:lstStyle/>
          <a:p>
            <a:pPr algn="l">
              <a:lnSpc>
                <a:spcPct val="113000"/>
              </a:lnSpc>
              <a:spcBef>
                <a:spcPts val="0"/>
              </a:spcBef>
              <a:spcAft>
                <a:spcPts val="0"/>
              </a:spcAft>
            </a:pPr>
            <a:r>
              <a:rPr sz="1900" b="0" lang="vi-VN">
                <a:solidFill>
                  <a:srgbClr val="192A39"/>
                </a:solidFill>
                <a:latin typeface="Arial"/>
              </a:rPr>
              <a:t>Có phạm vi hỗ trợ; vùng rủi ro được giữ lại.</a:t>
            </a:r>
          </a:p>
        </p:txBody>
      </p:sp>
      <p:cxnSp>
        <p:nvCxnSpPr>
          <p:cNvPr id="13" name="Connector 12"/>
          <p:cNvCxnSpPr/>
          <p:nvPr/>
        </p:nvCxnSpPr>
        <p:spPr>
          <a:xfrm>
            <a:off x="585216" y="3264408"/>
            <a:ext cx="10981944"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85216" y="3401568"/>
            <a:ext cx="3858768" cy="393192"/>
          </a:xfrm>
          <a:prstGeom prst="rect">
            <a:avLst/>
          </a:prstGeom>
          <a:noFill/>
          <a:effectLst/>
        </p:spPr>
        <p:txBody>
          <a:bodyPr wrap="square" lIns="0" rIns="0" tIns="0" bIns="0" anchor="t">
            <a:spAutoFit/>
          </a:bodyPr>
          <a:lstStyle/>
          <a:p>
            <a:pPr algn="l">
              <a:lnSpc>
                <a:spcPct val="113000"/>
              </a:lnSpc>
              <a:spcBef>
                <a:spcPts val="0"/>
              </a:spcBef>
              <a:spcAft>
                <a:spcPts val="0"/>
              </a:spcAft>
            </a:pPr>
            <a:r>
              <a:rPr sz="2000" b="1" lang="vi-VN">
                <a:solidFill>
                  <a:srgbClr val="B52033"/>
                </a:solidFill>
                <a:latin typeface="Arial"/>
              </a:rPr>
              <a:t>Mục lục đã đúng tuyệt đối?</a:t>
            </a:r>
          </a:p>
        </p:txBody>
      </p:sp>
      <p:sp>
        <p:nvSpPr>
          <p:cNvPr id="15" name="TextBox 14"/>
          <p:cNvSpPr txBox="1"/>
          <p:nvPr/>
        </p:nvSpPr>
        <p:spPr>
          <a:xfrm>
            <a:off x="4608576" y="3401568"/>
            <a:ext cx="6903720" cy="557784"/>
          </a:xfrm>
          <a:prstGeom prst="rect">
            <a:avLst/>
          </a:prstGeom>
          <a:noFill/>
          <a:effectLst/>
        </p:spPr>
        <p:txBody>
          <a:bodyPr wrap="square" lIns="0" rIns="0" tIns="0" bIns="0" anchor="t">
            <a:spAutoFit/>
          </a:bodyPr>
          <a:lstStyle/>
          <a:p>
            <a:pPr algn="l">
              <a:lnSpc>
                <a:spcPct val="113000"/>
              </a:lnSpc>
              <a:spcBef>
                <a:spcPts val="0"/>
              </a:spcBef>
              <a:spcAft>
                <a:spcPts val="0"/>
              </a:spcAft>
            </a:pPr>
            <a:r>
              <a:rPr sz="1900" b="0" lang="vi-VN">
                <a:solidFill>
                  <a:srgbClr val="192A39"/>
                </a:solidFill>
                <a:latin typeface="Arial"/>
              </a:rPr>
              <a:t>Cần nghiệm thu việc cập nhật trường trên Word.</a:t>
            </a:r>
          </a:p>
        </p:txBody>
      </p:sp>
      <p:cxnSp>
        <p:nvCxnSpPr>
          <p:cNvPr id="16" name="Connector 15"/>
          <p:cNvCxnSpPr/>
          <p:nvPr/>
        </p:nvCxnSpPr>
        <p:spPr>
          <a:xfrm>
            <a:off x="585216" y="4005072"/>
            <a:ext cx="10981944"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585216" y="4142232"/>
            <a:ext cx="3858768" cy="393192"/>
          </a:xfrm>
          <a:prstGeom prst="rect">
            <a:avLst/>
          </a:prstGeom>
          <a:noFill/>
          <a:effectLst/>
        </p:spPr>
        <p:txBody>
          <a:bodyPr wrap="square" lIns="0" rIns="0" tIns="0" bIns="0" anchor="t">
            <a:spAutoFit/>
          </a:bodyPr>
          <a:lstStyle/>
          <a:p>
            <a:pPr algn="l">
              <a:lnSpc>
                <a:spcPct val="113000"/>
              </a:lnSpc>
              <a:spcBef>
                <a:spcPts val="0"/>
              </a:spcBef>
              <a:spcAft>
                <a:spcPts val="0"/>
              </a:spcAft>
            </a:pPr>
            <a:r>
              <a:rPr sz="2000" b="1" lang="vi-VN">
                <a:solidFill>
                  <a:srgbClr val="B52033"/>
                </a:solidFill>
                <a:latin typeface="Arial"/>
              </a:rPr>
              <a:t>Dữ liệu được giữ bao lâu?</a:t>
            </a:r>
          </a:p>
        </p:txBody>
      </p:sp>
      <p:sp>
        <p:nvSpPr>
          <p:cNvPr id="18" name="TextBox 17"/>
          <p:cNvSpPr txBox="1"/>
          <p:nvPr/>
        </p:nvSpPr>
        <p:spPr>
          <a:xfrm>
            <a:off x="4608576" y="4142232"/>
            <a:ext cx="6903720" cy="557784"/>
          </a:xfrm>
          <a:prstGeom prst="rect">
            <a:avLst/>
          </a:prstGeom>
          <a:noFill/>
          <a:effectLst/>
        </p:spPr>
        <p:txBody>
          <a:bodyPr wrap="square" lIns="0" rIns="0" tIns="0" bIns="0" anchor="t">
            <a:spAutoFit/>
          </a:bodyPr>
          <a:lstStyle/>
          <a:p>
            <a:pPr algn="l">
              <a:lnSpc>
                <a:spcPct val="113000"/>
              </a:lnSpc>
              <a:spcBef>
                <a:spcPts val="0"/>
              </a:spcBef>
              <a:spcAft>
                <a:spcPts val="0"/>
              </a:spcAft>
            </a:pPr>
            <a:r>
              <a:rPr sz="1900" b="0" lang="vi-VN">
                <a:solidFill>
                  <a:srgbClr val="192A39"/>
                </a:solidFill>
                <a:latin typeface="Arial"/>
              </a:rPr>
              <a:t>TTL 30 phút từ lúc nhận; dọn theo vòng đời dịch vụ.</a:t>
            </a:r>
          </a:p>
        </p:txBody>
      </p:sp>
      <p:cxnSp>
        <p:nvCxnSpPr>
          <p:cNvPr id="19" name="Connector 18"/>
          <p:cNvCxnSpPr/>
          <p:nvPr/>
        </p:nvCxnSpPr>
        <p:spPr>
          <a:xfrm>
            <a:off x="585216" y="4745736"/>
            <a:ext cx="10981944" cy="0"/>
          </a:xfrm>
          <a:prstGeom prst="line">
            <a:avLst/>
          </a:prstGeom>
          <a:ln w="19050">
            <a:solidFill>
              <a:srgbClr val="DADFE2"/>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585216" y="4882896"/>
            <a:ext cx="3858768" cy="393192"/>
          </a:xfrm>
          <a:prstGeom prst="rect">
            <a:avLst/>
          </a:prstGeom>
          <a:noFill/>
          <a:effectLst/>
        </p:spPr>
        <p:txBody>
          <a:bodyPr wrap="square" lIns="0" rIns="0" tIns="0" bIns="0" anchor="t">
            <a:spAutoFit/>
          </a:bodyPr>
          <a:lstStyle/>
          <a:p>
            <a:pPr algn="l">
              <a:lnSpc>
                <a:spcPct val="113000"/>
              </a:lnSpc>
              <a:spcBef>
                <a:spcPts val="0"/>
              </a:spcBef>
              <a:spcAft>
                <a:spcPts val="0"/>
              </a:spcAft>
            </a:pPr>
            <a:r>
              <a:rPr sz="2000" b="1" lang="vi-VN">
                <a:solidFill>
                  <a:srgbClr val="B52033"/>
                </a:solidFill>
                <a:latin typeface="Arial"/>
              </a:rPr>
              <a:t>Nguồn kết quả kiểm thử?</a:t>
            </a:r>
          </a:p>
        </p:txBody>
      </p:sp>
      <p:sp>
        <p:nvSpPr>
          <p:cNvPr id="21" name="TextBox 20"/>
          <p:cNvSpPr txBox="1"/>
          <p:nvPr/>
        </p:nvSpPr>
        <p:spPr>
          <a:xfrm>
            <a:off x="4608576" y="4882896"/>
            <a:ext cx="6903720" cy="557784"/>
          </a:xfrm>
          <a:prstGeom prst="rect">
            <a:avLst/>
          </a:prstGeom>
          <a:noFill/>
          <a:effectLst/>
        </p:spPr>
        <p:txBody>
          <a:bodyPr wrap="square" lIns="0" rIns="0" tIns="0" bIns="0" anchor="t">
            <a:spAutoFit/>
          </a:bodyPr>
          <a:lstStyle/>
          <a:p>
            <a:pPr algn="l">
              <a:lnSpc>
                <a:spcPct val="113000"/>
              </a:lnSpc>
              <a:spcBef>
                <a:spcPts val="0"/>
              </a:spcBef>
              <a:spcAft>
                <a:spcPts val="0"/>
              </a:spcAft>
            </a:pPr>
            <a:r>
              <a:rPr sz="1900" b="0" lang="vi-VN">
                <a:solidFill>
                  <a:srgbClr val="192A39"/>
                </a:solidFill>
                <a:latin typeface="Arial"/>
              </a:rPr>
              <a:t>Cùng 155 ca trên hai bản Python, trong Linux.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DocLint – Thuyết trình cuối kỳ (10 phút)</dc:title>
  <dc:subject>Vấn đề người dùng, phương hướng giải quyết và lộ trình 15 tuần</dc:subject>
  <dc:creator>Nguyễn Đức Mười; Nguyễn Đức Lương</dc:creator>
  <cp:keywords>DocLint, báo cáo cuối kỳ, 10 phút, 15 tuần, khảo sát 15 phản hồi</cp:keywords>
  <dc:description>13 slide chính (600 giây) và 5 slide phụ lục; lời nói ở Speaker Notes. Khảo sát theo phần chữ n=15 của slide tuần 4.</dc:description>
  <cp:lastModifiedBy>Steve Canny</cp:lastModifiedBy>
  <cp:revision>1</cp:revision>
  <dcterms:created xsi:type="dcterms:W3CDTF">2013-01-27T09:14:16Z</dcterms:created>
  <dcterms:modified xsi:type="dcterms:W3CDTF">2013-01-27T09:15:58Z</dcterms:modified>
  <cp:category/>
</cp:coreProperties>
</file>